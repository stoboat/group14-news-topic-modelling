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70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4E8C"/>
                </a:solidFill>
                <a:latin typeface="Calibri"/>
              </a:rPr>
              <a:t>Coherence</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0"/>
          <c:dPt>
            <c:idx val="0"/>
            <c:invertIfNegative val="0"/>
            <c:bubble3D val="0"/>
            <c:spPr>
              <a:solidFill>
                <a:srgbClr val="C9A227"/>
              </a:solidFill>
            </c:spPr>
            <c:extLst>
              <c:ext xmlns:c16="http://schemas.microsoft.com/office/drawing/2014/chart" uri="{C3380CC4-5D6E-409C-BE32-E72D297353CC}">
                <c16:uniqueId val="{00000001-412E-42AD-AFC5-748B154FAF4A}"/>
              </c:ext>
            </c:extLst>
          </c:dPt>
          <c:dPt>
            <c:idx val="1"/>
            <c:invertIfNegative val="0"/>
            <c:bubble3D val="0"/>
            <c:spPr>
              <a:solidFill>
                <a:srgbClr val="2F6DB5"/>
              </a:solidFill>
            </c:spPr>
            <c:extLst>
              <c:ext xmlns:c16="http://schemas.microsoft.com/office/drawing/2014/chart" uri="{C3380CC4-5D6E-409C-BE32-E72D297353CC}">
                <c16:uniqueId val="{00000003-412E-42AD-AFC5-748B154FAF4A}"/>
              </c:ext>
            </c:extLst>
          </c:dPt>
          <c:dLbls>
            <c:numFmt formatCode="0.00" sourceLinked="0"/>
            <c:spPr>
              <a:noFill/>
              <a:ln>
                <a:noFill/>
              </a:ln>
              <a:effectLst/>
            </c:spPr>
            <c:txPr>
              <a:bodyPr/>
              <a:lstStyle/>
              <a:p>
                <a:pPr>
                  <a:defRPr sz="1200" b="1">
                    <a:solidFill>
                      <a:srgbClr val="2332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LDA</c:v>
                </c:pt>
                <c:pt idx="1">
                  <c:v>NMF</c:v>
                </c:pt>
              </c:strCache>
            </c:strRef>
          </c:cat>
          <c:val>
            <c:numRef>
              <c:f>Sheet1!$B$2:$B$3</c:f>
              <c:numCache>
                <c:formatCode>General</c:formatCode>
                <c:ptCount val="2"/>
                <c:pt idx="0">
                  <c:v>-2.2067251911099706</c:v>
                </c:pt>
                <c:pt idx="1">
                  <c:v>-1.5915035850831643</c:v>
                </c:pt>
              </c:numCache>
            </c:numRef>
          </c:val>
          <c:extLst>
            <c:ext xmlns:c16="http://schemas.microsoft.com/office/drawing/2014/chart" uri="{C3380CC4-5D6E-409C-BE32-E72D297353CC}">
              <c16:uniqueId val="{00000004-412E-42AD-AFC5-748B154FAF4A}"/>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B82"/>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
          <c:min val="-2.7"/>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3324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4E8C"/>
                </a:solidFill>
                <a:latin typeface="Calibri"/>
              </a:rPr>
              <a:t>Diversity</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0"/>
          <c:dPt>
            <c:idx val="0"/>
            <c:invertIfNegative val="0"/>
            <c:bubble3D val="0"/>
            <c:spPr>
              <a:solidFill>
                <a:srgbClr val="C9A227"/>
              </a:solidFill>
            </c:spPr>
            <c:extLst>
              <c:ext xmlns:c16="http://schemas.microsoft.com/office/drawing/2014/chart" uri="{C3380CC4-5D6E-409C-BE32-E72D297353CC}">
                <c16:uniqueId val="{00000001-A7D3-4990-AD69-89AE348DEF76}"/>
              </c:ext>
            </c:extLst>
          </c:dPt>
          <c:dPt>
            <c:idx val="1"/>
            <c:invertIfNegative val="0"/>
            <c:bubble3D val="0"/>
            <c:spPr>
              <a:solidFill>
                <a:srgbClr val="2F6DB5"/>
              </a:solidFill>
            </c:spPr>
            <c:extLst>
              <c:ext xmlns:c16="http://schemas.microsoft.com/office/drawing/2014/chart" uri="{C3380CC4-5D6E-409C-BE32-E72D297353CC}">
                <c16:uniqueId val="{00000003-A7D3-4990-AD69-89AE348DEF76}"/>
              </c:ext>
            </c:extLst>
          </c:dPt>
          <c:dLbls>
            <c:numFmt formatCode="0.000" sourceLinked="0"/>
            <c:spPr>
              <a:noFill/>
              <a:ln>
                <a:noFill/>
              </a:ln>
              <a:effectLst/>
            </c:spPr>
            <c:txPr>
              <a:bodyPr/>
              <a:lstStyle/>
              <a:p>
                <a:pPr>
                  <a:defRPr sz="1200" b="1">
                    <a:solidFill>
                      <a:srgbClr val="2332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LDA</c:v>
                </c:pt>
                <c:pt idx="1">
                  <c:v>NMF</c:v>
                </c:pt>
              </c:strCache>
            </c:strRef>
          </c:cat>
          <c:val>
            <c:numRef>
              <c:f>Sheet1!$B$2:$B$3</c:f>
              <c:numCache>
                <c:formatCode>General</c:formatCode>
                <c:ptCount val="2"/>
                <c:pt idx="0">
                  <c:v>0.93333333333333335</c:v>
                </c:pt>
                <c:pt idx="1">
                  <c:v>0.93333333333333335</c:v>
                </c:pt>
              </c:numCache>
            </c:numRef>
          </c:val>
          <c:extLst>
            <c:ext xmlns:c16="http://schemas.microsoft.com/office/drawing/2014/chart" uri="{C3380CC4-5D6E-409C-BE32-E72D297353CC}">
              <c16:uniqueId val="{00000004-A7D3-4990-AD69-89AE348DEF7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B82"/>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1000000000000001"/>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3324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4E8C"/>
                </a:solidFill>
                <a:latin typeface="Calibri"/>
              </a:rPr>
              <a:t>Purity</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0"/>
          <c:dPt>
            <c:idx val="0"/>
            <c:invertIfNegative val="0"/>
            <c:bubble3D val="0"/>
            <c:spPr>
              <a:solidFill>
                <a:srgbClr val="C9A227"/>
              </a:solidFill>
            </c:spPr>
            <c:extLst>
              <c:ext xmlns:c16="http://schemas.microsoft.com/office/drawing/2014/chart" uri="{C3380CC4-5D6E-409C-BE32-E72D297353CC}">
                <c16:uniqueId val="{00000001-E281-46A0-A312-891AC757A18E}"/>
              </c:ext>
            </c:extLst>
          </c:dPt>
          <c:dPt>
            <c:idx val="1"/>
            <c:invertIfNegative val="0"/>
            <c:bubble3D val="0"/>
            <c:spPr>
              <a:solidFill>
                <a:srgbClr val="2F6DB5"/>
              </a:solidFill>
            </c:spPr>
            <c:extLst>
              <c:ext xmlns:c16="http://schemas.microsoft.com/office/drawing/2014/chart" uri="{C3380CC4-5D6E-409C-BE32-E72D297353CC}">
                <c16:uniqueId val="{00000003-E281-46A0-A312-891AC757A18E}"/>
              </c:ext>
            </c:extLst>
          </c:dPt>
          <c:dLbls>
            <c:numFmt formatCode="0.000" sourceLinked="0"/>
            <c:spPr>
              <a:noFill/>
              <a:ln>
                <a:noFill/>
              </a:ln>
              <a:effectLst/>
            </c:spPr>
            <c:txPr>
              <a:bodyPr/>
              <a:lstStyle/>
              <a:p>
                <a:pPr>
                  <a:defRPr sz="1200" b="1">
                    <a:solidFill>
                      <a:srgbClr val="2332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LDA</c:v>
                </c:pt>
                <c:pt idx="1">
                  <c:v>NMF</c:v>
                </c:pt>
              </c:strCache>
            </c:strRef>
          </c:cat>
          <c:val>
            <c:numRef>
              <c:f>Sheet1!$B$2:$B$3</c:f>
              <c:numCache>
                <c:formatCode>General</c:formatCode>
                <c:ptCount val="2"/>
                <c:pt idx="0">
                  <c:v>0.2767118756202448</c:v>
                </c:pt>
                <c:pt idx="1">
                  <c:v>0.32903296945638988</c:v>
                </c:pt>
              </c:numCache>
            </c:numRef>
          </c:val>
          <c:extLst>
            <c:ext xmlns:c16="http://schemas.microsoft.com/office/drawing/2014/chart" uri="{C3380CC4-5D6E-409C-BE32-E72D297353CC}">
              <c16:uniqueId val="{00000004-E281-46A0-A312-891AC757A18E}"/>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B82"/>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42"/>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3324A"/>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4E8C"/>
                </a:solidFill>
                <a:latin typeface="Calibri"/>
              </a:rPr>
              <a:t>Coherence (closer to 0 is better)</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0"/>
          <c:dPt>
            <c:idx val="0"/>
            <c:invertIfNegative val="0"/>
            <c:bubble3D val="0"/>
            <c:spPr>
              <a:solidFill>
                <a:srgbClr val="2F6DB5"/>
              </a:solidFill>
            </c:spPr>
            <c:extLst>
              <c:ext xmlns:c16="http://schemas.microsoft.com/office/drawing/2014/chart" uri="{C3380CC4-5D6E-409C-BE32-E72D297353CC}">
                <c16:uniqueId val="{00000001-3A0F-4AC9-AAB6-DDEBA3F279EE}"/>
              </c:ext>
            </c:extLst>
          </c:dPt>
          <c:dPt>
            <c:idx val="1"/>
            <c:invertIfNegative val="0"/>
            <c:bubble3D val="0"/>
            <c:spPr>
              <a:solidFill>
                <a:srgbClr val="C9A227"/>
              </a:solidFill>
            </c:spPr>
            <c:extLst>
              <c:ext xmlns:c16="http://schemas.microsoft.com/office/drawing/2014/chart" uri="{C3380CC4-5D6E-409C-BE32-E72D297353CC}">
                <c16:uniqueId val="{00000003-3A0F-4AC9-AAB6-DDEBA3F279EE}"/>
              </c:ext>
            </c:extLst>
          </c:dPt>
          <c:dPt>
            <c:idx val="2"/>
            <c:invertIfNegative val="0"/>
            <c:bubble3D val="0"/>
            <c:spPr>
              <a:solidFill>
                <a:srgbClr val="C9A227"/>
              </a:solidFill>
            </c:spPr>
            <c:extLst>
              <c:ext xmlns:c16="http://schemas.microsoft.com/office/drawing/2014/chart" uri="{C3380CC4-5D6E-409C-BE32-E72D297353CC}">
                <c16:uniqueId val="{00000005-3A0F-4AC9-AAB6-DDEBA3F279EE}"/>
              </c:ext>
            </c:extLst>
          </c:dPt>
          <c:dPt>
            <c:idx val="3"/>
            <c:invertIfNegative val="0"/>
            <c:bubble3D val="0"/>
            <c:spPr>
              <a:solidFill>
                <a:srgbClr val="C9A227"/>
              </a:solidFill>
            </c:spPr>
            <c:extLst>
              <c:ext xmlns:c16="http://schemas.microsoft.com/office/drawing/2014/chart" uri="{C3380CC4-5D6E-409C-BE32-E72D297353CC}">
                <c16:uniqueId val="{00000007-3A0F-4AC9-AAB6-DDEBA3F279EE}"/>
              </c:ext>
            </c:extLst>
          </c:dPt>
          <c:dPt>
            <c:idx val="4"/>
            <c:invertIfNegative val="0"/>
            <c:bubble3D val="0"/>
            <c:spPr>
              <a:solidFill>
                <a:srgbClr val="C9A227"/>
              </a:solidFill>
            </c:spPr>
            <c:extLst>
              <c:ext xmlns:c16="http://schemas.microsoft.com/office/drawing/2014/chart" uri="{C3380CC4-5D6E-409C-BE32-E72D297353CC}">
                <c16:uniqueId val="{00000009-3A0F-4AC9-AAB6-DDEBA3F279EE}"/>
              </c:ext>
            </c:extLst>
          </c:dPt>
          <c:dPt>
            <c:idx val="5"/>
            <c:invertIfNegative val="0"/>
            <c:bubble3D val="0"/>
            <c:spPr>
              <a:solidFill>
                <a:srgbClr val="C9A227"/>
              </a:solidFill>
            </c:spPr>
            <c:extLst>
              <c:ext xmlns:c16="http://schemas.microsoft.com/office/drawing/2014/chart" uri="{C3380CC4-5D6E-409C-BE32-E72D297353CC}">
                <c16:uniqueId val="{0000000B-3A0F-4AC9-AAB6-DDEBA3F279EE}"/>
              </c:ext>
            </c:extLst>
          </c:dPt>
          <c:dPt>
            <c:idx val="6"/>
            <c:invertIfNegative val="0"/>
            <c:bubble3D val="0"/>
            <c:spPr>
              <a:solidFill>
                <a:srgbClr val="C9A227"/>
              </a:solidFill>
            </c:spPr>
            <c:extLst>
              <c:ext xmlns:c16="http://schemas.microsoft.com/office/drawing/2014/chart" uri="{C3380CC4-5D6E-409C-BE32-E72D297353CC}">
                <c16:uniqueId val="{0000000D-3A0F-4AC9-AAB6-DDEBA3F279EE}"/>
              </c:ext>
            </c:extLst>
          </c:dPt>
          <c:dPt>
            <c:idx val="7"/>
            <c:invertIfNegative val="0"/>
            <c:bubble3D val="0"/>
            <c:spPr>
              <a:solidFill>
                <a:srgbClr val="C9A227"/>
              </a:solidFill>
            </c:spPr>
            <c:extLst>
              <c:ext xmlns:c16="http://schemas.microsoft.com/office/drawing/2014/chart" uri="{C3380CC4-5D6E-409C-BE32-E72D297353CC}">
                <c16:uniqueId val="{0000000F-3A0F-4AC9-AAB6-DDEBA3F279EE}"/>
              </c:ext>
            </c:extLst>
          </c:dPt>
          <c:dLbls>
            <c:numFmt formatCode="0.00" sourceLinked="0"/>
            <c:spPr>
              <a:noFill/>
              <a:ln>
                <a:noFill/>
              </a:ln>
              <a:effectLst/>
            </c:spPr>
            <c:txPr>
              <a:bodyPr/>
              <a:lstStyle/>
              <a:p>
                <a:pPr>
                  <a:defRPr sz="1100" b="1">
                    <a:solidFill>
                      <a:srgbClr val="2332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NMF</c:v>
                </c:pt>
                <c:pt idx="1">
                  <c:v>LDA s42</c:v>
                </c:pt>
                <c:pt idx="2">
                  <c:v>LDA s42 4w</c:v>
                </c:pt>
                <c:pt idx="3">
                  <c:v>LDA s0</c:v>
                </c:pt>
                <c:pt idx="4">
                  <c:v>LDA s1</c:v>
                </c:pt>
                <c:pt idx="5">
                  <c:v>LDA s2</c:v>
                </c:pt>
                <c:pt idx="6">
                  <c:v>LDA s3</c:v>
                </c:pt>
                <c:pt idx="7">
                  <c:v>LDA s4</c:v>
                </c:pt>
              </c:strCache>
            </c:strRef>
          </c:cat>
          <c:val>
            <c:numRef>
              <c:f>Sheet1!$B$2:$B$9</c:f>
              <c:numCache>
                <c:formatCode>General</c:formatCode>
                <c:ptCount val="8"/>
                <c:pt idx="0">
                  <c:v>-1.5915035850831643</c:v>
                </c:pt>
                <c:pt idx="1">
                  <c:v>-2.2067251911099706</c:v>
                </c:pt>
                <c:pt idx="2">
                  <c:v>-2.1859999999999999</c:v>
                </c:pt>
                <c:pt idx="3">
                  <c:v>-2.34</c:v>
                </c:pt>
                <c:pt idx="4">
                  <c:v>-2.1989999999999998</c:v>
                </c:pt>
                <c:pt idx="5">
                  <c:v>-2.169</c:v>
                </c:pt>
                <c:pt idx="6">
                  <c:v>-2.3650000000000002</c:v>
                </c:pt>
                <c:pt idx="7">
                  <c:v>-2.3180000000000001</c:v>
                </c:pt>
              </c:numCache>
            </c:numRef>
          </c:val>
          <c:extLst>
            <c:ext xmlns:c16="http://schemas.microsoft.com/office/drawing/2014/chart" uri="{C3380CC4-5D6E-409C-BE32-E72D297353CC}">
              <c16:uniqueId val="{00000010-3A0F-4AC9-AAB6-DDEBA3F279EE}"/>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B82"/>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0"/>
          <c:min val="-2.85"/>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3324A"/>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4E8C"/>
                </a:solidFill>
                <a:latin typeface="Calibri"/>
              </a:rPr>
              <a:t>Purity (higher is better)</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0"/>
          <c:dPt>
            <c:idx val="0"/>
            <c:invertIfNegative val="0"/>
            <c:bubble3D val="0"/>
            <c:spPr>
              <a:solidFill>
                <a:srgbClr val="2F6DB5"/>
              </a:solidFill>
            </c:spPr>
            <c:extLst>
              <c:ext xmlns:c16="http://schemas.microsoft.com/office/drawing/2014/chart" uri="{C3380CC4-5D6E-409C-BE32-E72D297353CC}">
                <c16:uniqueId val="{00000001-559F-46CB-AAA4-31F8FC787027}"/>
              </c:ext>
            </c:extLst>
          </c:dPt>
          <c:dPt>
            <c:idx val="1"/>
            <c:invertIfNegative val="0"/>
            <c:bubble3D val="0"/>
            <c:spPr>
              <a:solidFill>
                <a:srgbClr val="C9A227"/>
              </a:solidFill>
            </c:spPr>
            <c:extLst>
              <c:ext xmlns:c16="http://schemas.microsoft.com/office/drawing/2014/chart" uri="{C3380CC4-5D6E-409C-BE32-E72D297353CC}">
                <c16:uniqueId val="{00000003-559F-46CB-AAA4-31F8FC787027}"/>
              </c:ext>
            </c:extLst>
          </c:dPt>
          <c:dPt>
            <c:idx val="2"/>
            <c:invertIfNegative val="0"/>
            <c:bubble3D val="0"/>
            <c:spPr>
              <a:solidFill>
                <a:srgbClr val="C9A227"/>
              </a:solidFill>
            </c:spPr>
            <c:extLst>
              <c:ext xmlns:c16="http://schemas.microsoft.com/office/drawing/2014/chart" uri="{C3380CC4-5D6E-409C-BE32-E72D297353CC}">
                <c16:uniqueId val="{00000005-559F-46CB-AAA4-31F8FC787027}"/>
              </c:ext>
            </c:extLst>
          </c:dPt>
          <c:dPt>
            <c:idx val="3"/>
            <c:invertIfNegative val="0"/>
            <c:bubble3D val="0"/>
            <c:spPr>
              <a:solidFill>
                <a:srgbClr val="C9A227"/>
              </a:solidFill>
            </c:spPr>
            <c:extLst>
              <c:ext xmlns:c16="http://schemas.microsoft.com/office/drawing/2014/chart" uri="{C3380CC4-5D6E-409C-BE32-E72D297353CC}">
                <c16:uniqueId val="{00000007-559F-46CB-AAA4-31F8FC787027}"/>
              </c:ext>
            </c:extLst>
          </c:dPt>
          <c:dPt>
            <c:idx val="4"/>
            <c:invertIfNegative val="0"/>
            <c:bubble3D val="0"/>
            <c:spPr>
              <a:solidFill>
                <a:srgbClr val="C9A227"/>
              </a:solidFill>
            </c:spPr>
            <c:extLst>
              <c:ext xmlns:c16="http://schemas.microsoft.com/office/drawing/2014/chart" uri="{C3380CC4-5D6E-409C-BE32-E72D297353CC}">
                <c16:uniqueId val="{00000009-559F-46CB-AAA4-31F8FC787027}"/>
              </c:ext>
            </c:extLst>
          </c:dPt>
          <c:dPt>
            <c:idx val="5"/>
            <c:invertIfNegative val="0"/>
            <c:bubble3D val="0"/>
            <c:spPr>
              <a:solidFill>
                <a:srgbClr val="C9A227"/>
              </a:solidFill>
            </c:spPr>
            <c:extLst>
              <c:ext xmlns:c16="http://schemas.microsoft.com/office/drawing/2014/chart" uri="{C3380CC4-5D6E-409C-BE32-E72D297353CC}">
                <c16:uniqueId val="{0000000B-559F-46CB-AAA4-31F8FC787027}"/>
              </c:ext>
            </c:extLst>
          </c:dPt>
          <c:dPt>
            <c:idx val="6"/>
            <c:invertIfNegative val="0"/>
            <c:bubble3D val="0"/>
            <c:spPr>
              <a:solidFill>
                <a:srgbClr val="C9A227"/>
              </a:solidFill>
            </c:spPr>
            <c:extLst>
              <c:ext xmlns:c16="http://schemas.microsoft.com/office/drawing/2014/chart" uri="{C3380CC4-5D6E-409C-BE32-E72D297353CC}">
                <c16:uniqueId val="{0000000D-559F-46CB-AAA4-31F8FC787027}"/>
              </c:ext>
            </c:extLst>
          </c:dPt>
          <c:dPt>
            <c:idx val="7"/>
            <c:invertIfNegative val="0"/>
            <c:bubble3D val="0"/>
            <c:spPr>
              <a:solidFill>
                <a:srgbClr val="C9A227"/>
              </a:solidFill>
            </c:spPr>
            <c:extLst>
              <c:ext xmlns:c16="http://schemas.microsoft.com/office/drawing/2014/chart" uri="{C3380CC4-5D6E-409C-BE32-E72D297353CC}">
                <c16:uniqueId val="{0000000F-559F-46CB-AAA4-31F8FC787027}"/>
              </c:ext>
            </c:extLst>
          </c:dPt>
          <c:dLbls>
            <c:numFmt formatCode="0.000" sourceLinked="0"/>
            <c:spPr>
              <a:noFill/>
              <a:ln>
                <a:noFill/>
              </a:ln>
              <a:effectLst/>
            </c:spPr>
            <c:txPr>
              <a:bodyPr/>
              <a:lstStyle/>
              <a:p>
                <a:pPr>
                  <a:defRPr sz="1100" b="1">
                    <a:solidFill>
                      <a:srgbClr val="2332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NMF</c:v>
                </c:pt>
                <c:pt idx="1">
                  <c:v>LDA s42</c:v>
                </c:pt>
                <c:pt idx="2">
                  <c:v>LDA s42 4w</c:v>
                </c:pt>
                <c:pt idx="3">
                  <c:v>LDA s0</c:v>
                </c:pt>
                <c:pt idx="4">
                  <c:v>LDA s1</c:v>
                </c:pt>
                <c:pt idx="5">
                  <c:v>LDA s2</c:v>
                </c:pt>
                <c:pt idx="6">
                  <c:v>LDA s3</c:v>
                </c:pt>
                <c:pt idx="7">
                  <c:v>LDA s4</c:v>
                </c:pt>
              </c:strCache>
            </c:strRef>
          </c:cat>
          <c:val>
            <c:numRef>
              <c:f>Sheet1!$B$2:$B$9</c:f>
              <c:numCache>
                <c:formatCode>General</c:formatCode>
                <c:ptCount val="8"/>
                <c:pt idx="0">
                  <c:v>0.32903296945638988</c:v>
                </c:pt>
                <c:pt idx="1">
                  <c:v>0.2767118756202448</c:v>
                </c:pt>
                <c:pt idx="2">
                  <c:v>0.26500000000000001</c:v>
                </c:pt>
                <c:pt idx="3">
                  <c:v>0.28100000000000003</c:v>
                </c:pt>
                <c:pt idx="4">
                  <c:v>0.25800000000000001</c:v>
                </c:pt>
                <c:pt idx="5">
                  <c:v>0.24299999999999999</c:v>
                </c:pt>
                <c:pt idx="6">
                  <c:v>0.26400000000000001</c:v>
                </c:pt>
                <c:pt idx="7">
                  <c:v>0.22700000000000001</c:v>
                </c:pt>
              </c:numCache>
            </c:numRef>
          </c:val>
          <c:extLst>
            <c:ext xmlns:c16="http://schemas.microsoft.com/office/drawing/2014/chart" uri="{C3380CC4-5D6E-409C-BE32-E72D297353CC}">
              <c16:uniqueId val="{00000010-559F-46CB-AAA4-31F8FC78702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B82"/>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0.4"/>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3324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112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(30 seconds). Introduce the group and the project in one sentence: we took about 18,000 old internet forum posts, hid their real categories, and asked two algorithms, LDA and NMF, to discover the topics on their own. Then we checked which one did better. Answer: NMF. Mention the live app link at the bottom right; we will demo it near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modelling is like asking a computer to sort a huge pile of unsorted letters into themes by noticing which words appear together. It is unsupervised: nobody tells the computer the topic names. We used the 20 Newsgroups dataset: 18,331 Usenet posts from 20 categories. We hid the real categories while training and used them only afterwards as an answer key. After cleaning, 18,185 posts remain. The word cloud shows everyday words dominate the posts, which explains the vague 'catch-all' topic we meet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chain: regex cleaning, tokenising, stopword removal, lemmatising, length filter, and de-duplication. Spend most time on the three bugs, because finding them is the best story in the project: 1) old email signature lines made of underscores survived punctuation removal; 2) one garbled repeating token appeared thousands of times; 3) 146 cross-posted duplicates formed their own fake topic. Result: 18,331 posts became 18,185. Also mention 47 posts contain none of the 5,000 model words, so they are marked unassigned instead of being forced into topic 0. Note: the lemmatiser handles plurals (pens to pen) but leaves words like running unchanged.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TF-IDF turns each post into numbers by scoring how special a word is to a post. Common words everywhere score low, distinctive words score high. We ignore words in more than 90% of posts, words in fewer than 5 posts, and keep the best 5,000. LDA is a probabilistic model: every post is a mixture of topics, like a smoothie recipe. NMF breaks the big table into topic building blocks that can only be added. Both use 15 topics so the comparison is fair. No train/test split because topic modelling is unsupervised. Technical note for questions: LDA is normally fed raw word counts; we fed it TF-IDF because the brief specifies TF-IDF and it keeps both models on identical input. We fixed n_jobs=1 so results do not change with the number of CPU cores.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single metric tells the whole story in unsupervised learning, so we used three. Coherence: do a topic's top ten words really show up together in the same posts? Closer to zero is better. Diversity: do the topics use different words, or repeat each other? Closer to 1 is better. Purity: using the real labels, but only afterwards, what share of a topic's posts come from one real category? That is our stand-in for interpretability. We wrote our own coherence code instead of using gensim, which has had compatibility problems with new Python versions. Our version divides by the lower-ranked word of each pair; the textbook UMass divides by the higher-ranked word. The app reports both and NMF wins under both.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three charts left to right. Coherence: NMF -1.59 versus LDA -2.21; closer to zero is better, so NMF's top words co-occur more reliably. Diversity: both models score 0.933, a tie. Purity: NMF 0.329 versus LDA 0.277; NMF's topics match real categories more closely. These are the numbers the corrected app shows on its Model Evaluation page. LDA is randomised, so its exact numbers vary by setting; the next slide shows the ranking does not.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NMF's five clearest topics, each with the words that define it and its purity. Cars, cryptography, the Armenian-Turkish conflict, religion and sport are all recognisable at a glance. Right, top: both models also produce one big catch-all topic made of everyday words (people, time, year, good): LDA's has 4,956 posts, NMF's has 3,341 posts (its Topic 0). The 'dominant category' of such a topic is nominal only; it just means which real group contributed the most posts. Right, bottom: NMF Topic 13 has a high purity (0.658, sci.med) but its words (bank, chastity, skepticism) come from one poster's repeated signature quote, not from medicine. That is the same kind of artefact as the duplicates and is listed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LDA is a randomised model, so we asked: is NMF's win a fluke? We trained LDA seven times: five different random seeds, plus the seed 42 run with one worker and with four workers. NMF is not random with our settings, so it gives the same answer every time. In all seven LDA runs NMF had better coherence and better purity. LDA's diversity matched or beat NMF's in six of seven runs, between 0.927 and 0.960 versus NMF's 0.933. So the conclusion is robust even though LDA's exact numbers move around. This is why we fixed the seed and the number of workers in the final app.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recommendation is NMF for anything like routing documents by topic: its topics are more coherent, closer to real categories, and recognisable at a glance. Keep LDA for cases where you need a probability mix, for example 'this post is 60% politics and 30% economics', or the widest vocabulary spread. The corpus matters too: topics with their own vocabulary (cryptography, cars, the Armenian-Turkish conflict, religion, sport) were found by both models, while overlapping newsgroups such as politics and guns blur together. So the purity ceiling is partly a data issue, not only a modelling issue. LIVE DEMO: open the app, go to Try It Yourself, paste a sentence about hockey or space, click Predict Topic, and show both models answering with their top words.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upfront about limitations; it earns credibility. 1) Our coherence is a UMass variant: fine for comparing LDA with NMF here, not for comparing with other studies, so the app shows the standard version too. 2) LDA was fitted on TF-IDF because the brief requires it; in a side test with raw word counts LDA reached higher purity (0.34 to 0.38) than NMF, so this choice handicaps LDA. 3) We fixed 15 topics for both models and did not tune them; some real categories overlap, so purity has a ceiling. Next steps: split the catch-all topic with more topics or another stopword pass; remove repeated signature quotes (NMF Topic 13); re-check coherence with gensim and try LDA on raw counts. Close by thanking the audience and inviting questions. References: Blei, Ng and Jordan (2003); Lee and Seung (2001); Mimno et al. (2011); Pedregosa et al. (2011); Lang (1995).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42B21A53-1464-40CB-4823-3EF283154D78}"/>
              </a:ext>
            </a:extLst>
          </p:cNvPr>
          <p:cNvSpPr txBox="1"/>
          <p:nvPr userDrawn="1">
            <p:extLst>
              <p:ext uri="{1162E1C5-73C7-4A58-AE30-91384D911F3F}">
                <p184:classification xmlns:p184="http://schemas.microsoft.com/office/powerpoint/2018/4/main" val="hdr"/>
              </p:ext>
            </p:extLst>
          </p:nvPr>
        </p:nvSpPr>
        <p:spPr>
          <a:xfrm>
            <a:off x="5514150" y="63500"/>
            <a:ext cx="1189037"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Ghana Water - Public</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ba7kc55rxwry8gvzb8uuam.streamlit.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group14-news-topic-modelling.streamlit.app/" TargetMode="External"/><Relationship Id="rId4" Type="http://schemas.openxmlformats.org/officeDocument/2006/relationships/hyperlink" Target="https://ba7kc55rxwry8gvzb8uuam.streamlit.app/"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UGBS building" descr="photo_full.jpg"/>
          <p:cNvPicPr>
            <a:picLocks noChangeAspect="1"/>
          </p:cNvPicPr>
          <p:nvPr/>
        </p:nvPicPr>
        <p:blipFill>
          <a:blip r:embed="rId3"/>
          <a:stretch>
            <a:fillRect/>
          </a:stretch>
        </p:blipFill>
        <p:spPr>
          <a:xfrm>
            <a:off x="0" y="0"/>
            <a:ext cx="12191695" cy="6858000"/>
          </a:xfrm>
          <a:prstGeom prst="rect">
            <a:avLst/>
          </a:prstGeom>
        </p:spPr>
      </p:pic>
      <p:sp>
        <p:nvSpPr>
          <p:cNvPr id="3" name="Title panel"/>
          <p:cNvSpPr/>
          <p:nvPr/>
        </p:nvSpPr>
        <p:spPr>
          <a:xfrm>
            <a:off x="0" y="0"/>
            <a:ext cx="7086600" cy="6858000"/>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Logo card"/>
          <p:cNvSpPr/>
          <p:nvPr/>
        </p:nvSpPr>
        <p:spPr>
          <a:xfrm>
            <a:off x="548640" y="502920"/>
            <a:ext cx="2606040" cy="1188720"/>
          </a:xfrm>
          <a:prstGeom prst="roundRect">
            <a:avLst>
              <a:gd name="adj" fmla="val 123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UGBS logo" descr="logo_crop.png"/>
          <p:cNvPicPr>
            <a:picLocks noChangeAspect="1"/>
          </p:cNvPicPr>
          <p:nvPr/>
        </p:nvPicPr>
        <p:blipFill>
          <a:blip r:embed="rId4"/>
          <a:stretch>
            <a:fillRect/>
          </a:stretch>
        </p:blipFill>
        <p:spPr>
          <a:xfrm>
            <a:off x="713232" y="621792"/>
            <a:ext cx="2097358" cy="950976"/>
          </a:xfrm>
          <a:prstGeom prst="rect">
            <a:avLst/>
          </a:prstGeom>
        </p:spPr>
      </p:pic>
      <p:sp>
        <p:nvSpPr>
          <p:cNvPr id="6" name="TextBox 5"/>
          <p:cNvSpPr txBox="1"/>
          <p:nvPr/>
        </p:nvSpPr>
        <p:spPr>
          <a:xfrm>
            <a:off x="548640" y="2011680"/>
            <a:ext cx="6217920" cy="274320"/>
          </a:xfrm>
          <a:prstGeom prst="rect">
            <a:avLst/>
          </a:prstGeom>
          <a:noFill/>
        </p:spPr>
        <p:txBody>
          <a:bodyPr wrap="square" lIns="0" tIns="0" rIns="0" bIns="0" anchor="t">
            <a:spAutoFit/>
          </a:bodyPr>
          <a:lstStyle/>
          <a:p>
            <a:pPr algn="l">
              <a:spcAft>
                <a:spcPts val="0"/>
              </a:spcAft>
            </a:pPr>
            <a:r>
              <a:rPr sz="1200" b="1" i="0">
                <a:solidFill>
                  <a:srgbClr val="F6EBC0"/>
                </a:solidFill>
                <a:latin typeface="Calibri"/>
              </a:rPr>
              <a:t>MSc BUSINESS ANALYTICS  ·  TEXT ANALYTICS GROUP PROJECT</a:t>
            </a:r>
          </a:p>
        </p:txBody>
      </p:sp>
      <p:sp>
        <p:nvSpPr>
          <p:cNvPr id="7" name="TextBox 6"/>
          <p:cNvSpPr txBox="1"/>
          <p:nvPr/>
        </p:nvSpPr>
        <p:spPr>
          <a:xfrm>
            <a:off x="548640" y="2331720"/>
            <a:ext cx="6217920" cy="914400"/>
          </a:xfrm>
          <a:prstGeom prst="rect">
            <a:avLst/>
          </a:prstGeom>
          <a:noFill/>
        </p:spPr>
        <p:txBody>
          <a:bodyPr wrap="square" lIns="0" tIns="0" rIns="0" bIns="0" anchor="t">
            <a:spAutoFit/>
          </a:bodyPr>
          <a:lstStyle/>
          <a:p>
            <a:pPr algn="l">
              <a:spcAft>
                <a:spcPts val="0"/>
              </a:spcAft>
            </a:pPr>
            <a:r>
              <a:rPr sz="4600" b="1" i="0">
                <a:solidFill>
                  <a:srgbClr val="FFFFFF"/>
                </a:solidFill>
                <a:latin typeface="Cambria"/>
              </a:rPr>
              <a:t>News Topic Modelling</a:t>
            </a:r>
          </a:p>
        </p:txBody>
      </p:sp>
      <p:sp>
        <p:nvSpPr>
          <p:cNvPr id="8" name="TextBox 7"/>
          <p:cNvSpPr txBox="1"/>
          <p:nvPr/>
        </p:nvSpPr>
        <p:spPr>
          <a:xfrm>
            <a:off x="548640" y="3291840"/>
            <a:ext cx="6035040" cy="868680"/>
          </a:xfrm>
          <a:prstGeom prst="rect">
            <a:avLst/>
          </a:prstGeom>
          <a:noFill/>
        </p:spPr>
        <p:txBody>
          <a:bodyPr wrap="square" lIns="0" tIns="0" rIns="0" bIns="0" anchor="t">
            <a:spAutoFit/>
          </a:bodyPr>
          <a:lstStyle/>
          <a:p>
            <a:pPr algn="l">
              <a:spcAft>
                <a:spcPts val="0"/>
              </a:spcAft>
            </a:pPr>
            <a:r>
              <a:rPr sz="2000" b="0" i="0">
                <a:solidFill>
                  <a:srgbClr val="FFFFFF"/>
                </a:solidFill>
                <a:latin typeface="Calibri"/>
              </a:rPr>
              <a:t>Finding the themes hidden in 18,185 newsgroup posts with TF-IDF, LDA and NMF</a:t>
            </a:r>
          </a:p>
        </p:txBody>
      </p:sp>
      <p:sp>
        <p:nvSpPr>
          <p:cNvPr id="9" name="Rounded Rectangle 8"/>
          <p:cNvSpPr/>
          <p:nvPr/>
        </p:nvSpPr>
        <p:spPr>
          <a:xfrm>
            <a:off x="548640" y="4343400"/>
            <a:ext cx="141732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300" b="1">
                <a:solidFill>
                  <a:srgbClr val="23324A"/>
                </a:solidFill>
                <a:latin typeface="Calibri"/>
              </a:rPr>
              <a:t>GROUP 14</a:t>
            </a:r>
          </a:p>
        </p:txBody>
      </p:sp>
      <p:sp>
        <p:nvSpPr>
          <p:cNvPr id="10" name="Group members"/>
          <p:cNvSpPr txBox="1"/>
          <p:nvPr/>
        </p:nvSpPr>
        <p:spPr>
          <a:xfrm>
            <a:off x="548640" y="4892040"/>
            <a:ext cx="6217920" cy="1554480"/>
          </a:xfrm>
          <a:prstGeom prst="rect">
            <a:avLst/>
          </a:prstGeom>
          <a:noFill/>
        </p:spPr>
        <p:txBody>
          <a:bodyPr wrap="square" lIns="0" tIns="0" rIns="0" bIns="0" anchor="t">
            <a:spAutoFit/>
          </a:bodyPr>
          <a:lstStyle/>
          <a:p>
            <a:pPr algn="l">
              <a:spcAft>
                <a:spcPts val="300"/>
              </a:spcAft>
            </a:pPr>
            <a:r>
              <a:rPr sz="1500" b="1" i="0">
                <a:solidFill>
                  <a:srgbClr val="FFFFFF"/>
                </a:solidFill>
                <a:latin typeface="Calibri"/>
              </a:rPr>
              <a:t>Fianu Adze Kofi Dovlo</a:t>
            </a:r>
            <a:r>
              <a:rPr sz="1500" b="0" i="0">
                <a:solidFill>
                  <a:srgbClr val="F6EBC0"/>
                </a:solidFill>
                <a:latin typeface="Calibri"/>
              </a:rPr>
              <a:t>   22418771</a:t>
            </a:r>
          </a:p>
          <a:p>
            <a:pPr algn="l">
              <a:spcAft>
                <a:spcPts val="300"/>
              </a:spcAft>
            </a:pPr>
            <a:r>
              <a:rPr sz="1500" b="1" i="0">
                <a:solidFill>
                  <a:srgbClr val="FFFFFF"/>
                </a:solidFill>
                <a:latin typeface="Calibri"/>
              </a:rPr>
              <a:t>Nana Ama Banafo</a:t>
            </a:r>
            <a:r>
              <a:rPr sz="1500" b="0" i="0">
                <a:solidFill>
                  <a:srgbClr val="F6EBC0"/>
                </a:solidFill>
                <a:latin typeface="Calibri"/>
              </a:rPr>
              <a:t>   22420379</a:t>
            </a:r>
          </a:p>
          <a:p>
            <a:pPr algn="l">
              <a:spcAft>
                <a:spcPts val="300"/>
              </a:spcAft>
            </a:pPr>
            <a:r>
              <a:rPr sz="1500" b="1" i="0">
                <a:solidFill>
                  <a:srgbClr val="FFFFFF"/>
                </a:solidFill>
                <a:latin typeface="Calibri"/>
              </a:rPr>
              <a:t>Stephen Ofori-Boateng</a:t>
            </a:r>
            <a:r>
              <a:rPr sz="1500" b="0" i="0">
                <a:solidFill>
                  <a:srgbClr val="F6EBC0"/>
                </a:solidFill>
                <a:latin typeface="Calibri"/>
              </a:rPr>
              <a:t>   22417816</a:t>
            </a:r>
          </a:p>
          <a:p>
            <a:pPr algn="l">
              <a:spcAft>
                <a:spcPts val="300"/>
              </a:spcAft>
            </a:pPr>
            <a:r>
              <a:rPr sz="1500" b="1" i="0">
                <a:solidFill>
                  <a:srgbClr val="FFFFFF"/>
                </a:solidFill>
                <a:latin typeface="Calibri"/>
              </a:rPr>
              <a:t>Kwame Ababio</a:t>
            </a:r>
            <a:r>
              <a:rPr sz="1500" b="0" i="0">
                <a:solidFill>
                  <a:srgbClr val="F6EBC0"/>
                </a:solidFill>
                <a:latin typeface="Calibri"/>
              </a:rPr>
              <a:t>   22424321</a:t>
            </a:r>
          </a:p>
          <a:p>
            <a:pPr algn="l">
              <a:spcAft>
                <a:spcPts val="300"/>
              </a:spcAft>
            </a:pPr>
            <a:r>
              <a:rPr sz="1500" b="1" i="0">
                <a:solidFill>
                  <a:srgbClr val="FFFFFF"/>
                </a:solidFill>
                <a:latin typeface="Calibri"/>
              </a:rPr>
              <a:t>Obiri-Yeboah Boateng Kwame</a:t>
            </a:r>
            <a:r>
              <a:rPr sz="1500" b="0" i="0">
                <a:solidFill>
                  <a:srgbClr val="F6EBC0"/>
                </a:solidFill>
                <a:latin typeface="Calibri"/>
              </a:rPr>
              <a:t>   22418785</a:t>
            </a:r>
          </a:p>
        </p:txBody>
      </p:sp>
      <p:sp>
        <p:nvSpPr>
          <p:cNvPr id="11" name="Rounded Rectangle 10">
            <a:hlinkClick r:id="rId5"/>
          </p:cNvPr>
          <p:cNvSpPr/>
          <p:nvPr/>
        </p:nvSpPr>
        <p:spPr>
          <a:xfrm>
            <a:off x="7589520" y="6053328"/>
            <a:ext cx="4069080" cy="38404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Live app: ba7kc55rxwry8gvzb8uuam.streamlit.app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01 · BACKGROUND AND OBJECTIVE</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Two algorithms sorted 18,185 forum posts into topics, with no labels given</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2</a:t>
            </a:r>
          </a:p>
        </p:txBody>
      </p:sp>
      <p:sp>
        <p:nvSpPr>
          <p:cNvPr id="7" name="Rounded Rectangle 6"/>
          <p:cNvSpPr/>
          <p:nvPr/>
        </p:nvSpPr>
        <p:spPr>
          <a:xfrm>
            <a:off x="548640" y="1737360"/>
            <a:ext cx="5852160" cy="960120"/>
          </a:xfrm>
          <a:prstGeom prst="roundRect">
            <a:avLst>
              <a:gd name="adj" fmla="val 13333"/>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1520" y="2011679"/>
            <a:ext cx="411480" cy="41148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1</a:t>
            </a:r>
          </a:p>
        </p:txBody>
      </p:sp>
      <p:sp>
        <p:nvSpPr>
          <p:cNvPr id="9" name="TextBox 8"/>
          <p:cNvSpPr txBox="1"/>
          <p:nvPr/>
        </p:nvSpPr>
        <p:spPr>
          <a:xfrm>
            <a:off x="1325880" y="1847088"/>
            <a:ext cx="493776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The problem</a:t>
            </a:r>
          </a:p>
        </p:txBody>
      </p:sp>
      <p:sp>
        <p:nvSpPr>
          <p:cNvPr id="10" name="TextBox 9"/>
          <p:cNvSpPr txBox="1"/>
          <p:nvPr/>
        </p:nvSpPr>
        <p:spPr>
          <a:xfrm>
            <a:off x="1325880" y="2130552"/>
            <a:ext cx="4937760" cy="54864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Newsrooms, forums and support teams produce far more text than anyone can read or sort by hand.</a:t>
            </a:r>
          </a:p>
        </p:txBody>
      </p:sp>
      <p:sp>
        <p:nvSpPr>
          <p:cNvPr id="11" name="Rounded Rectangle 10"/>
          <p:cNvSpPr/>
          <p:nvPr/>
        </p:nvSpPr>
        <p:spPr>
          <a:xfrm>
            <a:off x="548640" y="2852928"/>
            <a:ext cx="5852160" cy="960120"/>
          </a:xfrm>
          <a:prstGeom prst="roundRect">
            <a:avLst>
              <a:gd name="adj" fmla="val 13333"/>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31520" y="3127248"/>
            <a:ext cx="411480" cy="41148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2</a:t>
            </a:r>
          </a:p>
        </p:txBody>
      </p:sp>
      <p:sp>
        <p:nvSpPr>
          <p:cNvPr id="13" name="TextBox 12"/>
          <p:cNvSpPr txBox="1"/>
          <p:nvPr/>
        </p:nvSpPr>
        <p:spPr>
          <a:xfrm>
            <a:off x="1325880" y="2962656"/>
            <a:ext cx="493776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The data</a:t>
            </a:r>
          </a:p>
        </p:txBody>
      </p:sp>
      <p:sp>
        <p:nvSpPr>
          <p:cNvPr id="14" name="TextBox 13"/>
          <p:cNvSpPr txBox="1"/>
          <p:nvPr/>
        </p:nvSpPr>
        <p:spPr>
          <a:xfrm>
            <a:off x="1325880" y="3246120"/>
            <a:ext cx="4937760" cy="54864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20 Newsgroups: 18,331 Usenet posts from 20 categories, 18,185 left after cleaning.</a:t>
            </a:r>
          </a:p>
        </p:txBody>
      </p:sp>
      <p:sp>
        <p:nvSpPr>
          <p:cNvPr id="15" name="Rounded Rectangle 14"/>
          <p:cNvSpPr/>
          <p:nvPr/>
        </p:nvSpPr>
        <p:spPr>
          <a:xfrm>
            <a:off x="548640" y="3968496"/>
            <a:ext cx="5852160" cy="960120"/>
          </a:xfrm>
          <a:prstGeom prst="roundRect">
            <a:avLst>
              <a:gd name="adj" fmla="val 13333"/>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31520" y="4242816"/>
            <a:ext cx="411480" cy="41148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3</a:t>
            </a:r>
          </a:p>
        </p:txBody>
      </p:sp>
      <p:sp>
        <p:nvSpPr>
          <p:cNvPr id="17" name="TextBox 16"/>
          <p:cNvSpPr txBox="1"/>
          <p:nvPr/>
        </p:nvSpPr>
        <p:spPr>
          <a:xfrm>
            <a:off x="1325880" y="4078224"/>
            <a:ext cx="493776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The twist</a:t>
            </a:r>
          </a:p>
        </p:txBody>
      </p:sp>
      <p:sp>
        <p:nvSpPr>
          <p:cNvPr id="18" name="TextBox 17"/>
          <p:cNvSpPr txBox="1"/>
          <p:nvPr/>
        </p:nvSpPr>
        <p:spPr>
          <a:xfrm>
            <a:off x="1325880" y="4361688"/>
            <a:ext cx="4937760" cy="54864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Real categories stay hidden while the models learn, then act as an answer key.</a:t>
            </a:r>
          </a:p>
        </p:txBody>
      </p:sp>
      <p:sp>
        <p:nvSpPr>
          <p:cNvPr id="19" name="Rounded Rectangle 18"/>
          <p:cNvSpPr/>
          <p:nvPr/>
        </p:nvSpPr>
        <p:spPr>
          <a:xfrm>
            <a:off x="548640" y="5166360"/>
            <a:ext cx="1371600" cy="1097280"/>
          </a:xfrm>
          <a:prstGeom prst="roundRect">
            <a:avLst>
              <a:gd name="adj" fmla="val 11666"/>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248656"/>
            <a:ext cx="1371600" cy="502920"/>
          </a:xfrm>
          <a:prstGeom prst="rect">
            <a:avLst/>
          </a:prstGeom>
          <a:noFill/>
        </p:spPr>
        <p:txBody>
          <a:bodyPr wrap="square" lIns="0" tIns="0" rIns="0" bIns="0" anchor="t">
            <a:spAutoFit/>
          </a:bodyPr>
          <a:lstStyle/>
          <a:p>
            <a:pPr algn="ctr">
              <a:spcAft>
                <a:spcPts val="0"/>
              </a:spcAft>
            </a:pPr>
            <a:r>
              <a:rPr sz="2800" b="1" i="0">
                <a:solidFill>
                  <a:srgbClr val="FFFFFF"/>
                </a:solidFill>
                <a:latin typeface="Cambria"/>
              </a:rPr>
              <a:t>18,185</a:t>
            </a:r>
          </a:p>
        </p:txBody>
      </p:sp>
      <p:sp>
        <p:nvSpPr>
          <p:cNvPr id="21" name="TextBox 20"/>
          <p:cNvSpPr txBox="1"/>
          <p:nvPr/>
        </p:nvSpPr>
        <p:spPr>
          <a:xfrm>
            <a:off x="594360" y="5779008"/>
            <a:ext cx="1280160" cy="411480"/>
          </a:xfrm>
          <a:prstGeom prst="rect">
            <a:avLst/>
          </a:prstGeom>
          <a:noFill/>
        </p:spPr>
        <p:txBody>
          <a:bodyPr wrap="square" lIns="0" tIns="0" rIns="0" bIns="0" anchor="t">
            <a:spAutoFit/>
          </a:bodyPr>
          <a:lstStyle/>
          <a:p>
            <a:pPr algn="ctr">
              <a:spcAft>
                <a:spcPts val="0"/>
              </a:spcAft>
            </a:pPr>
            <a:r>
              <a:rPr sz="1200" b="1" i="0">
                <a:solidFill>
                  <a:srgbClr val="F6EBC0"/>
                </a:solidFill>
                <a:latin typeface="Calibri"/>
              </a:rPr>
              <a:t>posts</a:t>
            </a:r>
          </a:p>
        </p:txBody>
      </p:sp>
      <p:sp>
        <p:nvSpPr>
          <p:cNvPr id="22" name="Rounded Rectangle 21"/>
          <p:cNvSpPr/>
          <p:nvPr/>
        </p:nvSpPr>
        <p:spPr>
          <a:xfrm>
            <a:off x="2039112" y="5166360"/>
            <a:ext cx="1371600" cy="1097280"/>
          </a:xfrm>
          <a:prstGeom prst="roundRect">
            <a:avLst>
              <a:gd name="adj" fmla="val 11666"/>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39112" y="5248656"/>
            <a:ext cx="1371600" cy="502920"/>
          </a:xfrm>
          <a:prstGeom prst="rect">
            <a:avLst/>
          </a:prstGeom>
          <a:noFill/>
        </p:spPr>
        <p:txBody>
          <a:bodyPr wrap="square" lIns="0" tIns="0" rIns="0" bIns="0" anchor="t">
            <a:spAutoFit/>
          </a:bodyPr>
          <a:lstStyle/>
          <a:p>
            <a:pPr algn="ctr">
              <a:spcAft>
                <a:spcPts val="0"/>
              </a:spcAft>
            </a:pPr>
            <a:r>
              <a:rPr sz="2800" b="1" i="0">
                <a:solidFill>
                  <a:srgbClr val="FFFFFF"/>
                </a:solidFill>
                <a:latin typeface="Cambria"/>
              </a:rPr>
              <a:t>20</a:t>
            </a:r>
          </a:p>
        </p:txBody>
      </p:sp>
      <p:sp>
        <p:nvSpPr>
          <p:cNvPr id="24" name="TextBox 23"/>
          <p:cNvSpPr txBox="1"/>
          <p:nvPr/>
        </p:nvSpPr>
        <p:spPr>
          <a:xfrm>
            <a:off x="2084831" y="5779008"/>
            <a:ext cx="1280160" cy="411480"/>
          </a:xfrm>
          <a:prstGeom prst="rect">
            <a:avLst/>
          </a:prstGeom>
          <a:noFill/>
        </p:spPr>
        <p:txBody>
          <a:bodyPr wrap="square" lIns="0" tIns="0" rIns="0" bIns="0" anchor="t">
            <a:spAutoFit/>
          </a:bodyPr>
          <a:lstStyle/>
          <a:p>
            <a:pPr algn="ctr">
              <a:spcAft>
                <a:spcPts val="0"/>
              </a:spcAft>
            </a:pPr>
            <a:r>
              <a:rPr sz="1200" b="1" i="0">
                <a:solidFill>
                  <a:srgbClr val="F6EBC0"/>
                </a:solidFill>
                <a:latin typeface="Calibri"/>
              </a:rPr>
              <a:t>hidden categories</a:t>
            </a:r>
          </a:p>
        </p:txBody>
      </p:sp>
      <p:sp>
        <p:nvSpPr>
          <p:cNvPr id="25" name="Rounded Rectangle 24"/>
          <p:cNvSpPr/>
          <p:nvPr/>
        </p:nvSpPr>
        <p:spPr>
          <a:xfrm>
            <a:off x="3529584" y="5166360"/>
            <a:ext cx="1371600" cy="1097280"/>
          </a:xfrm>
          <a:prstGeom prst="roundRect">
            <a:avLst>
              <a:gd name="adj" fmla="val 11666"/>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29584" y="5248656"/>
            <a:ext cx="1371600" cy="502920"/>
          </a:xfrm>
          <a:prstGeom prst="rect">
            <a:avLst/>
          </a:prstGeom>
          <a:noFill/>
        </p:spPr>
        <p:txBody>
          <a:bodyPr wrap="square" lIns="0" tIns="0" rIns="0" bIns="0" anchor="t">
            <a:spAutoFit/>
          </a:bodyPr>
          <a:lstStyle/>
          <a:p>
            <a:pPr algn="ctr">
              <a:spcAft>
                <a:spcPts val="0"/>
              </a:spcAft>
            </a:pPr>
            <a:r>
              <a:rPr sz="2800" b="1" i="0">
                <a:solidFill>
                  <a:srgbClr val="FFFFFF"/>
                </a:solidFill>
                <a:latin typeface="Cambria"/>
              </a:rPr>
              <a:t>2</a:t>
            </a:r>
          </a:p>
        </p:txBody>
      </p:sp>
      <p:sp>
        <p:nvSpPr>
          <p:cNvPr id="27" name="TextBox 26"/>
          <p:cNvSpPr txBox="1"/>
          <p:nvPr/>
        </p:nvSpPr>
        <p:spPr>
          <a:xfrm>
            <a:off x="3575303" y="5779008"/>
            <a:ext cx="1280160" cy="411480"/>
          </a:xfrm>
          <a:prstGeom prst="rect">
            <a:avLst/>
          </a:prstGeom>
          <a:noFill/>
        </p:spPr>
        <p:txBody>
          <a:bodyPr wrap="square" lIns="0" tIns="0" rIns="0" bIns="0" anchor="t">
            <a:spAutoFit/>
          </a:bodyPr>
          <a:lstStyle/>
          <a:p>
            <a:pPr algn="ctr">
              <a:spcAft>
                <a:spcPts val="0"/>
              </a:spcAft>
            </a:pPr>
            <a:r>
              <a:rPr sz="1200" b="1" i="0">
                <a:solidFill>
                  <a:srgbClr val="F6EBC0"/>
                </a:solidFill>
                <a:latin typeface="Calibri"/>
              </a:rPr>
              <a:t>models</a:t>
            </a:r>
          </a:p>
        </p:txBody>
      </p:sp>
      <p:sp>
        <p:nvSpPr>
          <p:cNvPr id="28" name="Rounded Rectangle 27"/>
          <p:cNvSpPr/>
          <p:nvPr/>
        </p:nvSpPr>
        <p:spPr>
          <a:xfrm>
            <a:off x="5020055" y="5166360"/>
            <a:ext cx="1371600" cy="1097280"/>
          </a:xfrm>
          <a:prstGeom prst="roundRect">
            <a:avLst>
              <a:gd name="adj" fmla="val 11666"/>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0055" y="5248656"/>
            <a:ext cx="1371600" cy="502920"/>
          </a:xfrm>
          <a:prstGeom prst="rect">
            <a:avLst/>
          </a:prstGeom>
          <a:noFill/>
        </p:spPr>
        <p:txBody>
          <a:bodyPr wrap="square" lIns="0" tIns="0" rIns="0" bIns="0" anchor="t">
            <a:spAutoFit/>
          </a:bodyPr>
          <a:lstStyle/>
          <a:p>
            <a:pPr algn="ctr">
              <a:spcAft>
                <a:spcPts val="0"/>
              </a:spcAft>
            </a:pPr>
            <a:r>
              <a:rPr sz="2800" b="1" i="0">
                <a:solidFill>
                  <a:srgbClr val="FFFFFF"/>
                </a:solidFill>
                <a:latin typeface="Cambria"/>
              </a:rPr>
              <a:t>15</a:t>
            </a:r>
          </a:p>
        </p:txBody>
      </p:sp>
      <p:sp>
        <p:nvSpPr>
          <p:cNvPr id="30" name="TextBox 29"/>
          <p:cNvSpPr txBox="1"/>
          <p:nvPr/>
        </p:nvSpPr>
        <p:spPr>
          <a:xfrm>
            <a:off x="5065775" y="5779008"/>
            <a:ext cx="1280160" cy="411480"/>
          </a:xfrm>
          <a:prstGeom prst="rect">
            <a:avLst/>
          </a:prstGeom>
          <a:noFill/>
        </p:spPr>
        <p:txBody>
          <a:bodyPr wrap="square" lIns="0" tIns="0" rIns="0" bIns="0" anchor="t">
            <a:spAutoFit/>
          </a:bodyPr>
          <a:lstStyle/>
          <a:p>
            <a:pPr algn="ctr">
              <a:spcAft>
                <a:spcPts val="0"/>
              </a:spcAft>
            </a:pPr>
            <a:r>
              <a:rPr sz="1200" b="1" i="0">
                <a:solidFill>
                  <a:srgbClr val="F6EBC0"/>
                </a:solidFill>
                <a:latin typeface="Calibri"/>
              </a:rPr>
              <a:t>topics each</a:t>
            </a:r>
          </a:p>
        </p:txBody>
      </p:sp>
      <p:pic>
        <p:nvPicPr>
          <p:cNvPr id="31" name="Picture 30" descr="wordcloud.png"/>
          <p:cNvPicPr>
            <a:picLocks noChangeAspect="1"/>
          </p:cNvPicPr>
          <p:nvPr/>
        </p:nvPicPr>
        <p:blipFill>
          <a:blip r:embed="rId4"/>
          <a:stretch>
            <a:fillRect/>
          </a:stretch>
        </p:blipFill>
        <p:spPr>
          <a:xfrm>
            <a:off x="6766560" y="1737360"/>
            <a:ext cx="4873752" cy="3657600"/>
          </a:xfrm>
          <a:prstGeom prst="roundRect">
            <a:avLst>
              <a:gd name="adj" fmla="val 6000"/>
            </a:avLst>
          </a:prstGeom>
        </p:spPr>
      </p:pic>
      <p:sp>
        <p:nvSpPr>
          <p:cNvPr id="32" name="TextBox 31"/>
          <p:cNvSpPr txBox="1"/>
          <p:nvPr/>
        </p:nvSpPr>
        <p:spPr>
          <a:xfrm>
            <a:off x="6766560" y="5532120"/>
            <a:ext cx="4873752" cy="731520"/>
          </a:xfrm>
          <a:prstGeom prst="rect">
            <a:avLst/>
          </a:prstGeom>
          <a:noFill/>
        </p:spPr>
        <p:txBody>
          <a:bodyPr wrap="square" lIns="0" tIns="0" rIns="0" bIns="0" anchor="t">
            <a:spAutoFit/>
          </a:bodyPr>
          <a:lstStyle/>
          <a:p>
            <a:pPr algn="l">
              <a:spcAft>
                <a:spcPts val="0"/>
              </a:spcAft>
            </a:pPr>
            <a:r>
              <a:rPr sz="1300" b="1" i="0">
                <a:solidFill>
                  <a:srgbClr val="1F4E8C"/>
                </a:solidFill>
                <a:latin typeface="Calibri"/>
              </a:rPr>
              <a:t>The words in the posts. </a:t>
            </a:r>
            <a:r>
              <a:rPr sz="1300" b="0" i="0">
                <a:solidFill>
                  <a:srgbClr val="5B6B82"/>
                </a:solidFill>
                <a:latin typeface="Calibri"/>
              </a:rPr>
              <a:t>Everyday words dominate, which is why a vague catch-all topic appears later.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02 · APPROACH: DATA AND CLEANING</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Cleaning mattered: three hidden data bugs were fixed before modelling</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3</a:t>
            </a:r>
          </a:p>
        </p:txBody>
      </p:sp>
      <p:sp>
        <p:nvSpPr>
          <p:cNvPr id="7" name="Rounded Rectangle 6"/>
          <p:cNvSpPr/>
          <p:nvPr/>
        </p:nvSpPr>
        <p:spPr>
          <a:xfrm>
            <a:off x="548640"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8368"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1</a:t>
            </a:r>
          </a:p>
        </p:txBody>
      </p:sp>
      <p:sp>
        <p:nvSpPr>
          <p:cNvPr id="9" name="TextBox 8"/>
          <p:cNvSpPr txBox="1"/>
          <p:nvPr/>
        </p:nvSpPr>
        <p:spPr>
          <a:xfrm>
            <a:off x="676656"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Regex clean</a:t>
            </a:r>
          </a:p>
        </p:txBody>
      </p:sp>
      <p:sp>
        <p:nvSpPr>
          <p:cNvPr id="10" name="TextBox 9"/>
          <p:cNvSpPr txBox="1"/>
          <p:nvPr/>
        </p:nvSpPr>
        <p:spPr>
          <a:xfrm>
            <a:off x="676656"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lowercase; remove emails, links, HTML, symbols, digits</a:t>
            </a:r>
          </a:p>
        </p:txBody>
      </p:sp>
      <p:sp>
        <p:nvSpPr>
          <p:cNvPr id="11" name="Right Arrow 10"/>
          <p:cNvSpPr/>
          <p:nvPr/>
        </p:nvSpPr>
        <p:spPr>
          <a:xfrm>
            <a:off x="2221991" y="2331720"/>
            <a:ext cx="188915" cy="237744"/>
          </a:xfrm>
          <a:prstGeom prst="righ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438339"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548067"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2</a:t>
            </a:r>
          </a:p>
        </p:txBody>
      </p:sp>
      <p:sp>
        <p:nvSpPr>
          <p:cNvPr id="14" name="TextBox 13"/>
          <p:cNvSpPr txBox="1"/>
          <p:nvPr/>
        </p:nvSpPr>
        <p:spPr>
          <a:xfrm>
            <a:off x="2566355"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Tokenise</a:t>
            </a:r>
          </a:p>
        </p:txBody>
      </p:sp>
      <p:sp>
        <p:nvSpPr>
          <p:cNvPr id="15" name="TextBox 14"/>
          <p:cNvSpPr txBox="1"/>
          <p:nvPr/>
        </p:nvSpPr>
        <p:spPr>
          <a:xfrm>
            <a:off x="2566355"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split each post into words</a:t>
            </a:r>
          </a:p>
        </p:txBody>
      </p:sp>
      <p:sp>
        <p:nvSpPr>
          <p:cNvPr id="16" name="Right Arrow 15"/>
          <p:cNvSpPr/>
          <p:nvPr/>
        </p:nvSpPr>
        <p:spPr>
          <a:xfrm>
            <a:off x="4111691" y="2331720"/>
            <a:ext cx="188915" cy="237744"/>
          </a:xfrm>
          <a:prstGeom prst="righ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28038"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437766"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3</a:t>
            </a:r>
          </a:p>
        </p:txBody>
      </p:sp>
      <p:sp>
        <p:nvSpPr>
          <p:cNvPr id="19" name="TextBox 18"/>
          <p:cNvSpPr txBox="1"/>
          <p:nvPr/>
        </p:nvSpPr>
        <p:spPr>
          <a:xfrm>
            <a:off x="4456054"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Stopwords</a:t>
            </a:r>
          </a:p>
        </p:txBody>
      </p:sp>
      <p:sp>
        <p:nvSpPr>
          <p:cNvPr id="20" name="TextBox 19"/>
          <p:cNvSpPr txBox="1"/>
          <p:nvPr/>
        </p:nvSpPr>
        <p:spPr>
          <a:xfrm>
            <a:off x="4456054"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NLTK list plus 18 custom filler words</a:t>
            </a:r>
          </a:p>
        </p:txBody>
      </p:sp>
      <p:sp>
        <p:nvSpPr>
          <p:cNvPr id="21" name="Right Arrow 20"/>
          <p:cNvSpPr/>
          <p:nvPr/>
        </p:nvSpPr>
        <p:spPr>
          <a:xfrm>
            <a:off x="6001390" y="2331720"/>
            <a:ext cx="188915" cy="237744"/>
          </a:xfrm>
          <a:prstGeom prst="righ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17737"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27465"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4</a:t>
            </a:r>
          </a:p>
        </p:txBody>
      </p:sp>
      <p:sp>
        <p:nvSpPr>
          <p:cNvPr id="24" name="TextBox 23"/>
          <p:cNvSpPr txBox="1"/>
          <p:nvPr/>
        </p:nvSpPr>
        <p:spPr>
          <a:xfrm>
            <a:off x="6345753"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Lemmatise</a:t>
            </a:r>
          </a:p>
        </p:txBody>
      </p:sp>
      <p:sp>
        <p:nvSpPr>
          <p:cNvPr id="25" name="TextBox 24"/>
          <p:cNvSpPr txBox="1"/>
          <p:nvPr/>
        </p:nvSpPr>
        <p:spPr>
          <a:xfrm>
            <a:off x="6345753"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pens becomes pen</a:t>
            </a:r>
          </a:p>
        </p:txBody>
      </p:sp>
      <p:sp>
        <p:nvSpPr>
          <p:cNvPr id="26" name="Right Arrow 25"/>
          <p:cNvSpPr/>
          <p:nvPr/>
        </p:nvSpPr>
        <p:spPr>
          <a:xfrm>
            <a:off x="7891089" y="2331720"/>
            <a:ext cx="188915" cy="237744"/>
          </a:xfrm>
          <a:prstGeom prst="righ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07436"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17164"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5</a:t>
            </a:r>
          </a:p>
        </p:txBody>
      </p:sp>
      <p:sp>
        <p:nvSpPr>
          <p:cNvPr id="29" name="TextBox 28"/>
          <p:cNvSpPr txBox="1"/>
          <p:nvPr/>
        </p:nvSpPr>
        <p:spPr>
          <a:xfrm>
            <a:off x="8235452"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Length filter</a:t>
            </a:r>
          </a:p>
        </p:txBody>
      </p:sp>
      <p:sp>
        <p:nvSpPr>
          <p:cNvPr id="30" name="TextBox 29"/>
          <p:cNvSpPr txBox="1"/>
          <p:nvPr/>
        </p:nvSpPr>
        <p:spPr>
          <a:xfrm>
            <a:off x="8235452"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keep words of 3 to 20 letters</a:t>
            </a:r>
          </a:p>
        </p:txBody>
      </p:sp>
      <p:sp>
        <p:nvSpPr>
          <p:cNvPr id="31" name="Right Arrow 30"/>
          <p:cNvSpPr/>
          <p:nvPr/>
        </p:nvSpPr>
        <p:spPr>
          <a:xfrm>
            <a:off x="9780788" y="2331720"/>
            <a:ext cx="188915" cy="237744"/>
          </a:xfrm>
          <a:prstGeom prst="righ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997135" y="1737360"/>
            <a:ext cx="1645920" cy="1417320"/>
          </a:xfrm>
          <a:prstGeom prst="roundRect">
            <a:avLst>
              <a:gd name="adj" fmla="val 9032"/>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106863" y="182880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6</a:t>
            </a:r>
          </a:p>
        </p:txBody>
      </p:sp>
      <p:sp>
        <p:nvSpPr>
          <p:cNvPr id="34" name="TextBox 33"/>
          <p:cNvSpPr txBox="1"/>
          <p:nvPr/>
        </p:nvSpPr>
        <p:spPr>
          <a:xfrm>
            <a:off x="10125151" y="2212848"/>
            <a:ext cx="1417320" cy="274320"/>
          </a:xfrm>
          <a:prstGeom prst="rect">
            <a:avLst/>
          </a:prstGeom>
          <a:noFill/>
        </p:spPr>
        <p:txBody>
          <a:bodyPr wrap="square" lIns="0" tIns="0" rIns="0" bIns="0" anchor="t">
            <a:spAutoFit/>
          </a:bodyPr>
          <a:lstStyle/>
          <a:p>
            <a:pPr algn="l">
              <a:spcAft>
                <a:spcPts val="0"/>
              </a:spcAft>
            </a:pPr>
            <a:r>
              <a:rPr sz="1500" b="1" i="0">
                <a:solidFill>
                  <a:srgbClr val="1F4E8C"/>
                </a:solidFill>
                <a:latin typeface="Calibri"/>
              </a:rPr>
              <a:t>De-duplicate</a:t>
            </a:r>
          </a:p>
        </p:txBody>
      </p:sp>
      <p:sp>
        <p:nvSpPr>
          <p:cNvPr id="35" name="TextBox 34"/>
          <p:cNvSpPr txBox="1"/>
          <p:nvPr/>
        </p:nvSpPr>
        <p:spPr>
          <a:xfrm>
            <a:off x="10125151" y="2505456"/>
            <a:ext cx="1417320" cy="640080"/>
          </a:xfrm>
          <a:prstGeom prst="rect">
            <a:avLst/>
          </a:prstGeom>
          <a:noFill/>
        </p:spPr>
        <p:txBody>
          <a:bodyPr wrap="square" lIns="0" tIns="0" rIns="0" bIns="0" anchor="t">
            <a:spAutoFit/>
          </a:bodyPr>
          <a:lstStyle/>
          <a:p>
            <a:pPr algn="l">
              <a:spcAft>
                <a:spcPts val="0"/>
              </a:spcAft>
            </a:pPr>
            <a:r>
              <a:rPr sz="1200" b="0" i="0">
                <a:solidFill>
                  <a:srgbClr val="23324A"/>
                </a:solidFill>
                <a:latin typeface="Calibri"/>
              </a:rPr>
              <a:t>drop exact copies</a:t>
            </a:r>
          </a:p>
        </p:txBody>
      </p:sp>
      <p:sp>
        <p:nvSpPr>
          <p:cNvPr id="36" name="Rounded Rectangle 35"/>
          <p:cNvSpPr/>
          <p:nvPr/>
        </p:nvSpPr>
        <p:spPr>
          <a:xfrm>
            <a:off x="548640" y="3429000"/>
            <a:ext cx="2651760" cy="2788920"/>
          </a:xfrm>
          <a:prstGeom prst="roundRect">
            <a:avLst>
              <a:gd name="adj" fmla="val 4827"/>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1520" y="3611880"/>
            <a:ext cx="822960" cy="29260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BUG 1</a:t>
            </a:r>
          </a:p>
        </p:txBody>
      </p:sp>
      <p:sp>
        <p:nvSpPr>
          <p:cNvPr id="38" name="TextBox 37"/>
          <p:cNvSpPr txBox="1"/>
          <p:nvPr/>
        </p:nvSpPr>
        <p:spPr>
          <a:xfrm>
            <a:off x="731520" y="4023360"/>
            <a:ext cx="2331720" cy="548640"/>
          </a:xfrm>
          <a:prstGeom prst="rect">
            <a:avLst/>
          </a:prstGeom>
          <a:noFill/>
        </p:spPr>
        <p:txBody>
          <a:bodyPr wrap="square" lIns="0" tIns="0" rIns="0" bIns="0" anchor="t">
            <a:spAutoFit/>
          </a:bodyPr>
          <a:lstStyle/>
          <a:p>
            <a:pPr algn="l">
              <a:spcAft>
                <a:spcPts val="0"/>
              </a:spcAft>
            </a:pPr>
            <a:r>
              <a:rPr sz="1900" b="1" i="0">
                <a:solidFill>
                  <a:srgbClr val="1F4E8C"/>
                </a:solidFill>
                <a:latin typeface="Cambria"/>
              </a:rPr>
              <a:t>Underscore artefacts</a:t>
            </a:r>
          </a:p>
        </p:txBody>
      </p:sp>
      <p:sp>
        <p:nvSpPr>
          <p:cNvPr id="39" name="TextBox 38"/>
          <p:cNvSpPr txBox="1"/>
          <p:nvPr/>
        </p:nvSpPr>
        <p:spPr>
          <a:xfrm>
            <a:off x="731520" y="4572000"/>
            <a:ext cx="2331720" cy="160020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Signature lines like ____ survived punctuation removal. Fix: a dedicated regex for underscore runs.</a:t>
            </a:r>
          </a:p>
        </p:txBody>
      </p:sp>
      <p:sp>
        <p:nvSpPr>
          <p:cNvPr id="40" name="Rounded Rectangle 39"/>
          <p:cNvSpPr/>
          <p:nvPr/>
        </p:nvSpPr>
        <p:spPr>
          <a:xfrm>
            <a:off x="3337560" y="3429000"/>
            <a:ext cx="2651760" cy="2788920"/>
          </a:xfrm>
          <a:prstGeom prst="roundRect">
            <a:avLst>
              <a:gd name="adj" fmla="val 4827"/>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520440" y="3611880"/>
            <a:ext cx="822960" cy="29260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BUG 2</a:t>
            </a:r>
          </a:p>
        </p:txBody>
      </p:sp>
      <p:sp>
        <p:nvSpPr>
          <p:cNvPr id="42" name="TextBox 41"/>
          <p:cNvSpPr txBox="1"/>
          <p:nvPr/>
        </p:nvSpPr>
        <p:spPr>
          <a:xfrm>
            <a:off x="3520440" y="4023360"/>
            <a:ext cx="2331720" cy="548640"/>
          </a:xfrm>
          <a:prstGeom prst="rect">
            <a:avLst/>
          </a:prstGeom>
          <a:noFill/>
        </p:spPr>
        <p:txBody>
          <a:bodyPr wrap="square" lIns="0" tIns="0" rIns="0" bIns="0" anchor="t">
            <a:spAutoFit/>
          </a:bodyPr>
          <a:lstStyle/>
          <a:p>
            <a:pPr algn="l">
              <a:spcAft>
                <a:spcPts val="0"/>
              </a:spcAft>
            </a:pPr>
            <a:r>
              <a:rPr sz="1900" b="1" i="0">
                <a:solidFill>
                  <a:srgbClr val="1F4E8C"/>
                </a:solidFill>
                <a:latin typeface="Cambria"/>
              </a:rPr>
              <a:t>A corrupted token</a:t>
            </a:r>
          </a:p>
        </p:txBody>
      </p:sp>
      <p:sp>
        <p:nvSpPr>
          <p:cNvPr id="43" name="TextBox 42"/>
          <p:cNvSpPr txBox="1"/>
          <p:nvPr/>
        </p:nvSpPr>
        <p:spPr>
          <a:xfrm>
            <a:off x="3520440" y="4572000"/>
            <a:ext cx="2331720" cy="160020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One garbled string repeated thousands of times. Fix: keep only words of 3 to 20 letters.</a:t>
            </a:r>
          </a:p>
        </p:txBody>
      </p:sp>
      <p:sp>
        <p:nvSpPr>
          <p:cNvPr id="44" name="Rounded Rectangle 43"/>
          <p:cNvSpPr/>
          <p:nvPr/>
        </p:nvSpPr>
        <p:spPr>
          <a:xfrm>
            <a:off x="6126479" y="3429000"/>
            <a:ext cx="2651760" cy="2788920"/>
          </a:xfrm>
          <a:prstGeom prst="roundRect">
            <a:avLst>
              <a:gd name="adj" fmla="val 4827"/>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309359" y="3611880"/>
            <a:ext cx="822960" cy="29260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BUG 3</a:t>
            </a:r>
          </a:p>
        </p:txBody>
      </p:sp>
      <p:sp>
        <p:nvSpPr>
          <p:cNvPr id="46" name="TextBox 45"/>
          <p:cNvSpPr txBox="1"/>
          <p:nvPr/>
        </p:nvSpPr>
        <p:spPr>
          <a:xfrm>
            <a:off x="6309359" y="4023360"/>
            <a:ext cx="2331720" cy="548640"/>
          </a:xfrm>
          <a:prstGeom prst="rect">
            <a:avLst/>
          </a:prstGeom>
          <a:noFill/>
        </p:spPr>
        <p:txBody>
          <a:bodyPr wrap="square" lIns="0" tIns="0" rIns="0" bIns="0" anchor="t">
            <a:spAutoFit/>
          </a:bodyPr>
          <a:lstStyle/>
          <a:p>
            <a:pPr algn="l">
              <a:spcAft>
                <a:spcPts val="0"/>
              </a:spcAft>
            </a:pPr>
            <a:r>
              <a:rPr sz="1900" b="1" i="0">
                <a:solidFill>
                  <a:srgbClr val="1F4E8C"/>
                </a:solidFill>
                <a:latin typeface="Cambria"/>
              </a:rPr>
              <a:t>146 duplicate posts</a:t>
            </a:r>
          </a:p>
        </p:txBody>
      </p:sp>
      <p:sp>
        <p:nvSpPr>
          <p:cNvPr id="47" name="TextBox 46"/>
          <p:cNvSpPr txBox="1"/>
          <p:nvPr/>
        </p:nvSpPr>
        <p:spPr>
          <a:xfrm>
            <a:off x="6309359" y="4572000"/>
            <a:ext cx="2331720" cy="160020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One poster's repeated text formed a fake topic. Fix: remove exact copies after cleaning.</a:t>
            </a:r>
          </a:p>
        </p:txBody>
      </p:sp>
      <p:sp>
        <p:nvSpPr>
          <p:cNvPr id="48" name="Rounded Rectangle 47"/>
          <p:cNvSpPr/>
          <p:nvPr/>
        </p:nvSpPr>
        <p:spPr>
          <a:xfrm>
            <a:off x="9006840" y="3429000"/>
            <a:ext cx="2633472" cy="2788920"/>
          </a:xfrm>
          <a:prstGeom prst="roundRect">
            <a:avLst>
              <a:gd name="adj" fmla="val 4861"/>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44000" y="3611880"/>
            <a:ext cx="2377440" cy="274320"/>
          </a:xfrm>
          <a:prstGeom prst="rect">
            <a:avLst/>
          </a:prstGeom>
          <a:noFill/>
        </p:spPr>
        <p:txBody>
          <a:bodyPr wrap="square" lIns="0" tIns="0" rIns="0" bIns="0" anchor="t">
            <a:spAutoFit/>
          </a:bodyPr>
          <a:lstStyle/>
          <a:p>
            <a:pPr algn="l">
              <a:spcAft>
                <a:spcPts val="0"/>
              </a:spcAft>
            </a:pPr>
            <a:r>
              <a:rPr sz="1200" b="1" i="0">
                <a:solidFill>
                  <a:srgbClr val="F6EBC0"/>
                </a:solidFill>
                <a:latin typeface="Calibri"/>
              </a:rPr>
              <a:t>AFTER CLEANING</a:t>
            </a:r>
          </a:p>
        </p:txBody>
      </p:sp>
      <p:sp>
        <p:nvSpPr>
          <p:cNvPr id="50" name="TextBox 49"/>
          <p:cNvSpPr txBox="1"/>
          <p:nvPr/>
        </p:nvSpPr>
        <p:spPr>
          <a:xfrm>
            <a:off x="9144000" y="3931920"/>
            <a:ext cx="2377440" cy="731520"/>
          </a:xfrm>
          <a:prstGeom prst="rect">
            <a:avLst/>
          </a:prstGeom>
          <a:noFill/>
        </p:spPr>
        <p:txBody>
          <a:bodyPr wrap="square" lIns="0" tIns="0" rIns="0" bIns="0" anchor="t">
            <a:spAutoFit/>
          </a:bodyPr>
          <a:lstStyle/>
          <a:p>
            <a:pPr algn="l">
              <a:spcAft>
                <a:spcPts val="0"/>
              </a:spcAft>
            </a:pPr>
            <a:r>
              <a:rPr sz="3400" b="1" i="0">
                <a:solidFill>
                  <a:srgbClr val="FFFFFF"/>
                </a:solidFill>
                <a:latin typeface="Cambria"/>
              </a:rPr>
              <a:t>18,331</a:t>
            </a:r>
          </a:p>
        </p:txBody>
      </p:sp>
      <p:sp>
        <p:nvSpPr>
          <p:cNvPr id="51" name="TextBox 50"/>
          <p:cNvSpPr txBox="1"/>
          <p:nvPr/>
        </p:nvSpPr>
        <p:spPr>
          <a:xfrm>
            <a:off x="9144000" y="4572000"/>
            <a:ext cx="2377440" cy="457200"/>
          </a:xfrm>
          <a:prstGeom prst="rect">
            <a:avLst/>
          </a:prstGeom>
          <a:noFill/>
        </p:spPr>
        <p:txBody>
          <a:bodyPr wrap="square" lIns="0" tIns="0" rIns="0" bIns="0" anchor="t">
            <a:spAutoFit/>
          </a:bodyPr>
          <a:lstStyle/>
          <a:p>
            <a:pPr algn="l">
              <a:spcAft>
                <a:spcPts val="0"/>
              </a:spcAft>
            </a:pPr>
            <a:r>
              <a:rPr sz="1600" b="1" i="0">
                <a:solidFill>
                  <a:srgbClr val="F6EBC0"/>
                </a:solidFill>
                <a:latin typeface="Calibri"/>
              </a:rPr>
              <a:t>to  </a:t>
            </a:r>
            <a:r>
              <a:rPr sz="2000" b="1" i="0">
                <a:solidFill>
                  <a:srgbClr val="FFFFFF"/>
                </a:solidFill>
                <a:latin typeface="Calibri"/>
              </a:rPr>
              <a:t>18,185 posts</a:t>
            </a:r>
          </a:p>
        </p:txBody>
      </p:sp>
      <p:sp>
        <p:nvSpPr>
          <p:cNvPr id="52" name="TextBox 51"/>
          <p:cNvSpPr txBox="1"/>
          <p:nvPr/>
        </p:nvSpPr>
        <p:spPr>
          <a:xfrm>
            <a:off x="9144000" y="5120640"/>
            <a:ext cx="2377440" cy="1005840"/>
          </a:xfrm>
          <a:prstGeom prst="rect">
            <a:avLst/>
          </a:prstGeom>
          <a:noFill/>
        </p:spPr>
        <p:txBody>
          <a:bodyPr wrap="square" lIns="0" tIns="0" rIns="0" bIns="0" anchor="t">
            <a:spAutoFit/>
          </a:bodyPr>
          <a:lstStyle/>
          <a:p>
            <a:pPr algn="l">
              <a:spcAft>
                <a:spcPts val="0"/>
              </a:spcAft>
            </a:pPr>
            <a:r>
              <a:rPr sz="1300" b="0" i="0">
                <a:solidFill>
                  <a:srgbClr val="FFFFFF"/>
                </a:solidFill>
                <a:latin typeface="Calibri"/>
              </a:rPr>
              <a:t>47 posts with none of the model's words are left unassigned.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02 · APPROACH: REPRESENTATION AND MODELS</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One input, two models: TF-IDF feeds both LDA and NMF</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4</a:t>
            </a:r>
          </a:p>
        </p:txBody>
      </p:sp>
      <p:sp>
        <p:nvSpPr>
          <p:cNvPr id="7" name="Rounded Rectangle 6"/>
          <p:cNvSpPr/>
          <p:nvPr/>
        </p:nvSpPr>
        <p:spPr>
          <a:xfrm>
            <a:off x="548640" y="1737360"/>
            <a:ext cx="3383280" cy="3931920"/>
          </a:xfrm>
          <a:prstGeom prst="roundRect">
            <a:avLst>
              <a:gd name="adj" fmla="val 3783"/>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74519"/>
            <a:ext cx="2926080" cy="365760"/>
          </a:xfrm>
          <a:prstGeom prst="rect">
            <a:avLst/>
          </a:prstGeom>
          <a:noFill/>
        </p:spPr>
        <p:txBody>
          <a:bodyPr wrap="square" lIns="0" tIns="0" rIns="0" bIns="0" anchor="t">
            <a:spAutoFit/>
          </a:bodyPr>
          <a:lstStyle/>
          <a:p>
            <a:pPr algn="l">
              <a:spcAft>
                <a:spcPts val="0"/>
              </a:spcAft>
            </a:pPr>
            <a:r>
              <a:rPr sz="2200" b="1" i="0">
                <a:solidFill>
                  <a:srgbClr val="1F4E8C"/>
                </a:solidFill>
                <a:latin typeface="Cambria"/>
              </a:rPr>
              <a:t>TF-IDF</a:t>
            </a:r>
          </a:p>
        </p:txBody>
      </p:sp>
      <p:sp>
        <p:nvSpPr>
          <p:cNvPr id="9" name="TextBox 8"/>
          <p:cNvSpPr txBox="1"/>
          <p:nvPr/>
        </p:nvSpPr>
        <p:spPr>
          <a:xfrm>
            <a:off x="777240" y="2331720"/>
            <a:ext cx="2926080" cy="82296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Scores a word by how special it is to a post, instead of how often it appears.</a:t>
            </a:r>
          </a:p>
        </p:txBody>
      </p:sp>
      <p:sp>
        <p:nvSpPr>
          <p:cNvPr id="10" name="Rounded Rectangle 9"/>
          <p:cNvSpPr/>
          <p:nvPr/>
        </p:nvSpPr>
        <p:spPr>
          <a:xfrm>
            <a:off x="777240" y="3246120"/>
            <a:ext cx="2926080" cy="347472"/>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Ignore words in over 90% of posts</a:t>
            </a:r>
          </a:p>
        </p:txBody>
      </p:sp>
      <p:sp>
        <p:nvSpPr>
          <p:cNvPr id="11" name="Rounded Rectangle 10"/>
          <p:cNvSpPr/>
          <p:nvPr/>
        </p:nvSpPr>
        <p:spPr>
          <a:xfrm>
            <a:off x="777240" y="3703320"/>
            <a:ext cx="2926080" cy="347472"/>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Ignore words in fewer than 5 posts</a:t>
            </a:r>
          </a:p>
        </p:txBody>
      </p:sp>
      <p:sp>
        <p:nvSpPr>
          <p:cNvPr id="12" name="Rounded Rectangle 11"/>
          <p:cNvSpPr/>
          <p:nvPr/>
        </p:nvSpPr>
        <p:spPr>
          <a:xfrm>
            <a:off x="777240" y="4160520"/>
            <a:ext cx="2926080" cy="347472"/>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Keep the best 5,000 words</a:t>
            </a:r>
          </a:p>
        </p:txBody>
      </p:sp>
      <p:sp>
        <p:nvSpPr>
          <p:cNvPr id="13" name="TextBox 12"/>
          <p:cNvSpPr txBox="1"/>
          <p:nvPr/>
        </p:nvSpPr>
        <p:spPr>
          <a:xfrm>
            <a:off x="777240" y="4663440"/>
            <a:ext cx="2926080" cy="914400"/>
          </a:xfrm>
          <a:prstGeom prst="rect">
            <a:avLst/>
          </a:prstGeom>
          <a:noFill/>
        </p:spPr>
        <p:txBody>
          <a:bodyPr wrap="square" lIns="0" tIns="0" rIns="0" bIns="0" anchor="t">
            <a:spAutoFit/>
          </a:bodyPr>
          <a:lstStyle/>
          <a:p>
            <a:pPr algn="l">
              <a:spcAft>
                <a:spcPts val="0"/>
              </a:spcAft>
            </a:pPr>
            <a:r>
              <a:rPr sz="1300" b="1" i="0">
                <a:solidFill>
                  <a:srgbClr val="8F6F00"/>
                </a:solidFill>
                <a:latin typeface="Calibri"/>
              </a:rPr>
              <a:t>Like a party: </a:t>
            </a:r>
            <a:r>
              <a:rPr sz="1300" b="0" i="1">
                <a:solidFill>
                  <a:srgbClr val="23324A"/>
                </a:solidFill>
                <a:latin typeface="Calibri"/>
              </a:rPr>
              <a:t>"nice weather" tells you nothing, "beekeeping" tells you a lot.</a:t>
            </a:r>
          </a:p>
        </p:txBody>
      </p:sp>
      <p:sp>
        <p:nvSpPr>
          <p:cNvPr id="14" name="Rounded Rectangle 13"/>
          <p:cNvSpPr/>
          <p:nvPr/>
        </p:nvSpPr>
        <p:spPr>
          <a:xfrm>
            <a:off x="4160520" y="1737360"/>
            <a:ext cx="3611880" cy="3931920"/>
          </a:xfrm>
          <a:prstGeom prst="roundRect">
            <a:avLst>
              <a:gd name="adj" fmla="val 3544"/>
            </a:avLst>
          </a:prstGeom>
          <a:solidFill>
            <a:srgbClr val="FFFFFF"/>
          </a:solidFill>
          <a:ln w="12700">
            <a:solidFill>
              <a:srgbClr val="6FA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89120" y="1920240"/>
            <a:ext cx="2194560" cy="310896"/>
          </a:xfrm>
          <a:prstGeom prst="roundRect">
            <a:avLst>
              <a:gd name="adj" fmla="val 50000"/>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FFFFFF"/>
                </a:solidFill>
                <a:latin typeface="Calibri"/>
              </a:rPr>
              <a:t>MODEL 1  ·  PROBABILISTIC</a:t>
            </a:r>
          </a:p>
        </p:txBody>
      </p:sp>
      <p:sp>
        <p:nvSpPr>
          <p:cNvPr id="16" name="TextBox 15"/>
          <p:cNvSpPr txBox="1"/>
          <p:nvPr/>
        </p:nvSpPr>
        <p:spPr>
          <a:xfrm>
            <a:off x="4389120" y="2377440"/>
            <a:ext cx="3108960" cy="548640"/>
          </a:xfrm>
          <a:prstGeom prst="rect">
            <a:avLst/>
          </a:prstGeom>
          <a:noFill/>
        </p:spPr>
        <p:txBody>
          <a:bodyPr wrap="square" lIns="0" tIns="0" rIns="0" bIns="0" anchor="t">
            <a:spAutoFit/>
          </a:bodyPr>
          <a:lstStyle/>
          <a:p>
            <a:pPr algn="l">
              <a:spcAft>
                <a:spcPts val="0"/>
              </a:spcAft>
            </a:pPr>
            <a:r>
              <a:rPr sz="3400" b="1" i="0">
                <a:solidFill>
                  <a:srgbClr val="1F4E8C"/>
                </a:solidFill>
                <a:latin typeface="Cambria"/>
              </a:rPr>
              <a:t>LDA</a:t>
            </a:r>
          </a:p>
        </p:txBody>
      </p:sp>
      <p:sp>
        <p:nvSpPr>
          <p:cNvPr id="17" name="TextBox 16"/>
          <p:cNvSpPr txBox="1"/>
          <p:nvPr/>
        </p:nvSpPr>
        <p:spPr>
          <a:xfrm>
            <a:off x="4389120" y="3063240"/>
            <a:ext cx="3200400" cy="914400"/>
          </a:xfrm>
          <a:prstGeom prst="rect">
            <a:avLst/>
          </a:prstGeom>
          <a:noFill/>
        </p:spPr>
        <p:txBody>
          <a:bodyPr wrap="square" lIns="0" tIns="0" rIns="0" bIns="0" anchor="t">
            <a:spAutoFit/>
          </a:bodyPr>
          <a:lstStyle/>
          <a:p>
            <a:pPr algn="l">
              <a:spcAft>
                <a:spcPts val="0"/>
              </a:spcAft>
            </a:pPr>
            <a:r>
              <a:rPr sz="1700" b="0" i="0">
                <a:solidFill>
                  <a:srgbClr val="23324A"/>
                </a:solidFill>
                <a:latin typeface="Calibri"/>
              </a:rPr>
              <a:t>Each post is a mixture of topics, like a smoothie recipe.</a:t>
            </a:r>
          </a:p>
        </p:txBody>
      </p:sp>
      <p:sp>
        <p:nvSpPr>
          <p:cNvPr id="18" name="TextBox 17"/>
          <p:cNvSpPr txBox="1"/>
          <p:nvPr/>
        </p:nvSpPr>
        <p:spPr>
          <a:xfrm>
            <a:off x="4389120" y="4114800"/>
            <a:ext cx="3200400" cy="1554480"/>
          </a:xfrm>
          <a:prstGeom prst="rect">
            <a:avLst/>
          </a:prstGeom>
          <a:noFill/>
        </p:spPr>
        <p:txBody>
          <a:bodyPr wrap="square" lIns="0" tIns="0" rIns="0" bIns="0" anchor="t">
            <a:spAutoFit/>
          </a:bodyPr>
          <a:lstStyle/>
          <a:p>
            <a:pPr marL="228600" indent="-228600" algn="l">
              <a:spcAft>
                <a:spcPts val="600"/>
              </a:spcAft>
              <a:buClr>
                <a:srgbClr val="8F6F00"/>
              </a:buClr>
              <a:buChar char="•"/>
            </a:pPr>
            <a:r>
              <a:rPr sz="1500" b="0" i="0">
                <a:solidFill>
                  <a:srgbClr val="23324A"/>
                </a:solidFill>
                <a:latin typeface="Calibri"/>
              </a:rPr>
              <a:t>15 topics, 20 passes</a:t>
            </a:r>
          </a:p>
          <a:p>
            <a:pPr marL="228600" indent="-228600" algn="l">
              <a:spcAft>
                <a:spcPts val="600"/>
              </a:spcAft>
              <a:buClr>
                <a:srgbClr val="8F6F00"/>
              </a:buClr>
              <a:buChar char="•"/>
            </a:pPr>
            <a:r>
              <a:rPr sz="1500" b="0" i="0">
                <a:solidFill>
                  <a:srgbClr val="23324A"/>
                </a:solidFill>
                <a:latin typeface="Calibri"/>
              </a:rPr>
              <a:t>Seed 42, one worker</a:t>
            </a:r>
          </a:p>
          <a:p>
            <a:pPr marL="228600" indent="-228600" algn="l">
              <a:spcAft>
                <a:spcPts val="600"/>
              </a:spcAft>
              <a:buClr>
                <a:srgbClr val="8F6F00"/>
              </a:buClr>
              <a:buChar char="•"/>
            </a:pPr>
            <a:r>
              <a:rPr sz="1500" b="0" i="0">
                <a:solidFill>
                  <a:srgbClr val="23324A"/>
                </a:solidFill>
                <a:latin typeface="Calibri"/>
              </a:rPr>
              <a:t>Latent Dirichlet Allocation</a:t>
            </a:r>
          </a:p>
        </p:txBody>
      </p:sp>
      <p:sp>
        <p:nvSpPr>
          <p:cNvPr id="19" name="Rounded Rectangle 18"/>
          <p:cNvSpPr/>
          <p:nvPr/>
        </p:nvSpPr>
        <p:spPr>
          <a:xfrm>
            <a:off x="7909559" y="1737360"/>
            <a:ext cx="3611880" cy="3931920"/>
          </a:xfrm>
          <a:prstGeom prst="roundRect">
            <a:avLst>
              <a:gd name="adj" fmla="val 3544"/>
            </a:avLst>
          </a:prstGeom>
          <a:solidFill>
            <a:srgbClr val="FFFFFF"/>
          </a:solidFill>
          <a:ln w="12700">
            <a:solidFill>
              <a:srgbClr val="6FA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38159" y="1920240"/>
            <a:ext cx="2194560" cy="310896"/>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MODEL 2  ·  MATRIX SPLIT</a:t>
            </a:r>
          </a:p>
        </p:txBody>
      </p:sp>
      <p:sp>
        <p:nvSpPr>
          <p:cNvPr id="21" name="TextBox 20"/>
          <p:cNvSpPr txBox="1"/>
          <p:nvPr/>
        </p:nvSpPr>
        <p:spPr>
          <a:xfrm>
            <a:off x="8138159" y="2377440"/>
            <a:ext cx="3108960" cy="548640"/>
          </a:xfrm>
          <a:prstGeom prst="rect">
            <a:avLst/>
          </a:prstGeom>
          <a:noFill/>
        </p:spPr>
        <p:txBody>
          <a:bodyPr wrap="square" lIns="0" tIns="0" rIns="0" bIns="0" anchor="t">
            <a:spAutoFit/>
          </a:bodyPr>
          <a:lstStyle/>
          <a:p>
            <a:pPr algn="l">
              <a:spcAft>
                <a:spcPts val="0"/>
              </a:spcAft>
            </a:pPr>
            <a:r>
              <a:rPr sz="3400" b="1" i="0">
                <a:solidFill>
                  <a:srgbClr val="1F4E8C"/>
                </a:solidFill>
                <a:latin typeface="Cambria"/>
              </a:rPr>
              <a:t>NMF</a:t>
            </a:r>
          </a:p>
        </p:txBody>
      </p:sp>
      <p:sp>
        <p:nvSpPr>
          <p:cNvPr id="22" name="TextBox 21"/>
          <p:cNvSpPr txBox="1"/>
          <p:nvPr/>
        </p:nvSpPr>
        <p:spPr>
          <a:xfrm>
            <a:off x="8138159" y="3063240"/>
            <a:ext cx="3200400" cy="914400"/>
          </a:xfrm>
          <a:prstGeom prst="rect">
            <a:avLst/>
          </a:prstGeom>
          <a:noFill/>
        </p:spPr>
        <p:txBody>
          <a:bodyPr wrap="square" lIns="0" tIns="0" rIns="0" bIns="0" anchor="t">
            <a:spAutoFit/>
          </a:bodyPr>
          <a:lstStyle/>
          <a:p>
            <a:pPr algn="l">
              <a:spcAft>
                <a:spcPts val="0"/>
              </a:spcAft>
            </a:pPr>
            <a:r>
              <a:rPr sz="1700" b="0" i="0">
                <a:solidFill>
                  <a:srgbClr val="23324A"/>
                </a:solidFill>
                <a:latin typeface="Calibri"/>
              </a:rPr>
              <a:t>Each post is built from topic blocks that can only be added.</a:t>
            </a:r>
          </a:p>
        </p:txBody>
      </p:sp>
      <p:sp>
        <p:nvSpPr>
          <p:cNvPr id="23" name="TextBox 22"/>
          <p:cNvSpPr txBox="1"/>
          <p:nvPr/>
        </p:nvSpPr>
        <p:spPr>
          <a:xfrm>
            <a:off x="8138159" y="4114800"/>
            <a:ext cx="3200400" cy="1554480"/>
          </a:xfrm>
          <a:prstGeom prst="rect">
            <a:avLst/>
          </a:prstGeom>
          <a:noFill/>
        </p:spPr>
        <p:txBody>
          <a:bodyPr wrap="square" lIns="0" tIns="0" rIns="0" bIns="0" anchor="t">
            <a:spAutoFit/>
          </a:bodyPr>
          <a:lstStyle/>
          <a:p>
            <a:pPr marL="228600" indent="-228600" algn="l">
              <a:spcAft>
                <a:spcPts val="600"/>
              </a:spcAft>
              <a:buClr>
                <a:srgbClr val="8F6F00"/>
              </a:buClr>
              <a:buChar char="•"/>
            </a:pPr>
            <a:r>
              <a:rPr sz="1500" b="0" i="0">
                <a:solidFill>
                  <a:srgbClr val="23324A"/>
                </a:solidFill>
                <a:latin typeface="Calibri"/>
              </a:rPr>
              <a:t>15 topics, up to 500 passes</a:t>
            </a:r>
          </a:p>
          <a:p>
            <a:pPr marL="228600" indent="-228600" algn="l">
              <a:spcAft>
                <a:spcPts val="600"/>
              </a:spcAft>
              <a:buClr>
                <a:srgbClr val="8F6F00"/>
              </a:buClr>
              <a:buChar char="•"/>
            </a:pPr>
            <a:r>
              <a:rPr sz="1500" b="0" i="0">
                <a:solidFill>
                  <a:srgbClr val="23324A"/>
                </a:solidFill>
                <a:latin typeface="Calibri"/>
              </a:rPr>
              <a:t>Seed 42, smart start (nndsvd)</a:t>
            </a:r>
          </a:p>
          <a:p>
            <a:pPr marL="228600" indent="-228600" algn="l">
              <a:spcAft>
                <a:spcPts val="600"/>
              </a:spcAft>
              <a:buClr>
                <a:srgbClr val="8F6F00"/>
              </a:buClr>
              <a:buChar char="•"/>
            </a:pPr>
            <a:r>
              <a:rPr sz="1500" b="0" i="0">
                <a:solidFill>
                  <a:srgbClr val="23324A"/>
                </a:solidFill>
                <a:latin typeface="Calibri"/>
              </a:rPr>
              <a:t>Non-negative Matrix Factorization</a:t>
            </a:r>
          </a:p>
        </p:txBody>
      </p:sp>
      <p:sp>
        <p:nvSpPr>
          <p:cNvPr id="24" name="Rounded Rectangle 23"/>
          <p:cNvSpPr/>
          <p:nvPr/>
        </p:nvSpPr>
        <p:spPr>
          <a:xfrm>
            <a:off x="548640" y="5852160"/>
            <a:ext cx="11094415" cy="457200"/>
          </a:xfrm>
          <a:prstGeom prst="roundRect">
            <a:avLst>
              <a:gd name="adj" fmla="val 24000"/>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852160"/>
            <a:ext cx="10637215" cy="457200"/>
          </a:xfrm>
          <a:prstGeom prst="rect">
            <a:avLst/>
          </a:prstGeom>
          <a:noFill/>
        </p:spPr>
        <p:txBody>
          <a:bodyPr wrap="square" lIns="0" tIns="0" rIns="0" bIns="0" anchor="ctr">
            <a:spAutoFit/>
          </a:bodyPr>
          <a:lstStyle/>
          <a:p>
            <a:pPr algn="l">
              <a:spcAft>
                <a:spcPts val="0"/>
              </a:spcAft>
            </a:pPr>
            <a:r>
              <a:rPr sz="1300" b="1" i="0">
                <a:solidFill>
                  <a:srgbClr val="1F4E8C"/>
                </a:solidFill>
                <a:latin typeface="Calibri"/>
              </a:rPr>
              <a:t>No train/test split: topic modelling is unsupervised, so both models learn from the whole corpus. Same 15 topics for a fair comparison.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02 · APPROACH: HOW WE JUDGED THE MODELS</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Three yardsticks decide which model finds better topics</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5</a:t>
            </a:r>
          </a:p>
        </p:txBody>
      </p:sp>
      <p:sp>
        <p:nvSpPr>
          <p:cNvPr id="7" name="Rounded Rectangle 6"/>
          <p:cNvSpPr/>
          <p:nvPr/>
        </p:nvSpPr>
        <p:spPr>
          <a:xfrm>
            <a:off x="548640" y="1737360"/>
            <a:ext cx="3611880" cy="3794760"/>
          </a:xfrm>
          <a:prstGeom prst="roundRect">
            <a:avLst>
              <a:gd name="adj" fmla="val 3544"/>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 y="1920240"/>
            <a:ext cx="502920" cy="5029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3324A"/>
                </a:solidFill>
                <a:latin typeface="Calibri"/>
              </a:rPr>
              <a:t>1</a:t>
            </a:r>
          </a:p>
        </p:txBody>
      </p:sp>
      <p:sp>
        <p:nvSpPr>
          <p:cNvPr id="9" name="TextBox 8"/>
          <p:cNvSpPr txBox="1"/>
          <p:nvPr/>
        </p:nvSpPr>
        <p:spPr>
          <a:xfrm>
            <a:off x="1417319" y="1993392"/>
            <a:ext cx="2560320" cy="411480"/>
          </a:xfrm>
          <a:prstGeom prst="rect">
            <a:avLst/>
          </a:prstGeom>
          <a:noFill/>
        </p:spPr>
        <p:txBody>
          <a:bodyPr wrap="square" lIns="0" tIns="0" rIns="0" bIns="0" anchor="t">
            <a:spAutoFit/>
          </a:bodyPr>
          <a:lstStyle/>
          <a:p>
            <a:pPr algn="l">
              <a:spcAft>
                <a:spcPts val="0"/>
              </a:spcAft>
            </a:pPr>
            <a:r>
              <a:rPr sz="2400" b="1" i="0">
                <a:solidFill>
                  <a:srgbClr val="1F4E8C"/>
                </a:solidFill>
                <a:latin typeface="Cambria"/>
              </a:rPr>
              <a:t>Coherence</a:t>
            </a:r>
          </a:p>
        </p:txBody>
      </p:sp>
      <p:sp>
        <p:nvSpPr>
          <p:cNvPr id="10" name="TextBox 9"/>
          <p:cNvSpPr txBox="1"/>
          <p:nvPr/>
        </p:nvSpPr>
        <p:spPr>
          <a:xfrm>
            <a:off x="777240" y="2697480"/>
            <a:ext cx="3200400" cy="914400"/>
          </a:xfrm>
          <a:prstGeom prst="rect">
            <a:avLst/>
          </a:prstGeom>
          <a:noFill/>
        </p:spPr>
        <p:txBody>
          <a:bodyPr wrap="square" lIns="0" tIns="0" rIns="0" bIns="0" anchor="t">
            <a:spAutoFit/>
          </a:bodyPr>
          <a:lstStyle/>
          <a:p>
            <a:pPr algn="l">
              <a:spcAft>
                <a:spcPts val="0"/>
              </a:spcAft>
            </a:pPr>
            <a:r>
              <a:rPr sz="1800" b="1" i="0">
                <a:solidFill>
                  <a:srgbClr val="23324A"/>
                </a:solidFill>
                <a:latin typeface="Calibri"/>
              </a:rPr>
              <a:t>Do a topic's top words appear together in the same posts?</a:t>
            </a:r>
          </a:p>
        </p:txBody>
      </p:sp>
      <p:sp>
        <p:nvSpPr>
          <p:cNvPr id="11" name="TextBox 10"/>
          <p:cNvSpPr txBox="1"/>
          <p:nvPr/>
        </p:nvSpPr>
        <p:spPr>
          <a:xfrm>
            <a:off x="777240" y="3657600"/>
            <a:ext cx="3200400" cy="118872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Score every pair of the top 10 words, then average.</a:t>
            </a:r>
          </a:p>
        </p:txBody>
      </p:sp>
      <p:sp>
        <p:nvSpPr>
          <p:cNvPr id="12" name="Rounded Rectangle 11"/>
          <p:cNvSpPr/>
          <p:nvPr/>
        </p:nvSpPr>
        <p:spPr>
          <a:xfrm>
            <a:off x="777240" y="4892040"/>
            <a:ext cx="228600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Closer to 0 is better</a:t>
            </a:r>
          </a:p>
        </p:txBody>
      </p:sp>
      <p:sp>
        <p:nvSpPr>
          <p:cNvPr id="13" name="Rounded Rectangle 12"/>
          <p:cNvSpPr/>
          <p:nvPr/>
        </p:nvSpPr>
        <p:spPr>
          <a:xfrm>
            <a:off x="4288536" y="1737360"/>
            <a:ext cx="3611880" cy="3794760"/>
          </a:xfrm>
          <a:prstGeom prst="roundRect">
            <a:avLst>
              <a:gd name="adj" fmla="val 3544"/>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17136" y="1920240"/>
            <a:ext cx="502920" cy="5029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3324A"/>
                </a:solidFill>
                <a:latin typeface="Calibri"/>
              </a:rPr>
              <a:t>2</a:t>
            </a:r>
          </a:p>
        </p:txBody>
      </p:sp>
      <p:sp>
        <p:nvSpPr>
          <p:cNvPr id="15" name="TextBox 14"/>
          <p:cNvSpPr txBox="1"/>
          <p:nvPr/>
        </p:nvSpPr>
        <p:spPr>
          <a:xfrm>
            <a:off x="5157216" y="1993392"/>
            <a:ext cx="2560320" cy="411480"/>
          </a:xfrm>
          <a:prstGeom prst="rect">
            <a:avLst/>
          </a:prstGeom>
          <a:noFill/>
        </p:spPr>
        <p:txBody>
          <a:bodyPr wrap="square" lIns="0" tIns="0" rIns="0" bIns="0" anchor="t">
            <a:spAutoFit/>
          </a:bodyPr>
          <a:lstStyle/>
          <a:p>
            <a:pPr algn="l">
              <a:spcAft>
                <a:spcPts val="0"/>
              </a:spcAft>
            </a:pPr>
            <a:r>
              <a:rPr sz="2400" b="1" i="0">
                <a:solidFill>
                  <a:srgbClr val="1F4E8C"/>
                </a:solidFill>
                <a:latin typeface="Cambria"/>
              </a:rPr>
              <a:t>Diversity</a:t>
            </a:r>
          </a:p>
        </p:txBody>
      </p:sp>
      <p:sp>
        <p:nvSpPr>
          <p:cNvPr id="16" name="TextBox 15"/>
          <p:cNvSpPr txBox="1"/>
          <p:nvPr/>
        </p:nvSpPr>
        <p:spPr>
          <a:xfrm>
            <a:off x="4517136" y="2697480"/>
            <a:ext cx="3200400" cy="914400"/>
          </a:xfrm>
          <a:prstGeom prst="rect">
            <a:avLst/>
          </a:prstGeom>
          <a:noFill/>
        </p:spPr>
        <p:txBody>
          <a:bodyPr wrap="square" lIns="0" tIns="0" rIns="0" bIns="0" anchor="t">
            <a:spAutoFit/>
          </a:bodyPr>
          <a:lstStyle/>
          <a:p>
            <a:pPr algn="l">
              <a:spcAft>
                <a:spcPts val="0"/>
              </a:spcAft>
            </a:pPr>
            <a:r>
              <a:rPr sz="1800" b="1" i="0">
                <a:solidFill>
                  <a:srgbClr val="23324A"/>
                </a:solidFill>
                <a:latin typeface="Calibri"/>
              </a:rPr>
              <a:t>Do the topics use different words from each other?</a:t>
            </a:r>
          </a:p>
        </p:txBody>
      </p:sp>
      <p:sp>
        <p:nvSpPr>
          <p:cNvPr id="17" name="TextBox 16"/>
          <p:cNvSpPr txBox="1"/>
          <p:nvPr/>
        </p:nvSpPr>
        <p:spPr>
          <a:xfrm>
            <a:off x="4517136" y="3657600"/>
            <a:ext cx="3200400" cy="118872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Unique words divided by all top words across the topics.</a:t>
            </a:r>
          </a:p>
        </p:txBody>
      </p:sp>
      <p:sp>
        <p:nvSpPr>
          <p:cNvPr id="18" name="Rounded Rectangle 17"/>
          <p:cNvSpPr/>
          <p:nvPr/>
        </p:nvSpPr>
        <p:spPr>
          <a:xfrm>
            <a:off x="4517136" y="4892040"/>
            <a:ext cx="228600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Closer to 1.0 is better</a:t>
            </a:r>
          </a:p>
        </p:txBody>
      </p:sp>
      <p:sp>
        <p:nvSpPr>
          <p:cNvPr id="19" name="Rounded Rectangle 18"/>
          <p:cNvSpPr/>
          <p:nvPr/>
        </p:nvSpPr>
        <p:spPr>
          <a:xfrm>
            <a:off x="8028431" y="1737360"/>
            <a:ext cx="3611880" cy="3794760"/>
          </a:xfrm>
          <a:prstGeom prst="roundRect">
            <a:avLst>
              <a:gd name="adj" fmla="val 3544"/>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57031" y="1920240"/>
            <a:ext cx="502920" cy="5029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3324A"/>
                </a:solidFill>
                <a:latin typeface="Calibri"/>
              </a:rPr>
              <a:t>3</a:t>
            </a:r>
          </a:p>
        </p:txBody>
      </p:sp>
      <p:sp>
        <p:nvSpPr>
          <p:cNvPr id="21" name="TextBox 20"/>
          <p:cNvSpPr txBox="1"/>
          <p:nvPr/>
        </p:nvSpPr>
        <p:spPr>
          <a:xfrm>
            <a:off x="8897111" y="1993392"/>
            <a:ext cx="2560320" cy="411480"/>
          </a:xfrm>
          <a:prstGeom prst="rect">
            <a:avLst/>
          </a:prstGeom>
          <a:noFill/>
        </p:spPr>
        <p:txBody>
          <a:bodyPr wrap="square" lIns="0" tIns="0" rIns="0" bIns="0" anchor="t">
            <a:spAutoFit/>
          </a:bodyPr>
          <a:lstStyle/>
          <a:p>
            <a:pPr algn="l">
              <a:spcAft>
                <a:spcPts val="0"/>
              </a:spcAft>
            </a:pPr>
            <a:r>
              <a:rPr sz="2400" b="1" i="0">
                <a:solidFill>
                  <a:srgbClr val="1F4E8C"/>
                </a:solidFill>
                <a:latin typeface="Cambria"/>
              </a:rPr>
              <a:t>Purity</a:t>
            </a:r>
          </a:p>
        </p:txBody>
      </p:sp>
      <p:sp>
        <p:nvSpPr>
          <p:cNvPr id="22" name="TextBox 21"/>
          <p:cNvSpPr txBox="1"/>
          <p:nvPr/>
        </p:nvSpPr>
        <p:spPr>
          <a:xfrm>
            <a:off x="8257031" y="2697480"/>
            <a:ext cx="3200400" cy="914400"/>
          </a:xfrm>
          <a:prstGeom prst="rect">
            <a:avLst/>
          </a:prstGeom>
          <a:noFill/>
        </p:spPr>
        <p:txBody>
          <a:bodyPr wrap="square" lIns="0" tIns="0" rIns="0" bIns="0" anchor="t">
            <a:spAutoFit/>
          </a:bodyPr>
          <a:lstStyle/>
          <a:p>
            <a:pPr algn="l">
              <a:spcAft>
                <a:spcPts val="0"/>
              </a:spcAft>
            </a:pPr>
            <a:r>
              <a:rPr sz="1800" b="1" i="0">
                <a:solidFill>
                  <a:srgbClr val="23324A"/>
                </a:solidFill>
                <a:latin typeface="Calibri"/>
              </a:rPr>
              <a:t>Does a topic match one real category?</a:t>
            </a:r>
          </a:p>
        </p:txBody>
      </p:sp>
      <p:sp>
        <p:nvSpPr>
          <p:cNvPr id="23" name="TextBox 22"/>
          <p:cNvSpPr txBox="1"/>
          <p:nvPr/>
        </p:nvSpPr>
        <p:spPr>
          <a:xfrm>
            <a:off x="8257031" y="3657600"/>
            <a:ext cx="3200400" cy="118872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Share of a topic's posts from its biggest real category. Labels check results, never train.</a:t>
            </a:r>
          </a:p>
        </p:txBody>
      </p:sp>
      <p:sp>
        <p:nvSpPr>
          <p:cNvPr id="24" name="Rounded Rectangle 23"/>
          <p:cNvSpPr/>
          <p:nvPr/>
        </p:nvSpPr>
        <p:spPr>
          <a:xfrm>
            <a:off x="8257031" y="4892040"/>
            <a:ext cx="228600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Higher is better</a:t>
            </a:r>
          </a:p>
        </p:txBody>
      </p:sp>
      <p:sp>
        <p:nvSpPr>
          <p:cNvPr id="25" name="Rounded Rectangle 24"/>
          <p:cNvSpPr/>
          <p:nvPr/>
        </p:nvSpPr>
        <p:spPr>
          <a:xfrm>
            <a:off x="548640" y="5760720"/>
            <a:ext cx="11094415" cy="548640"/>
          </a:xfrm>
          <a:prstGeom prst="roundRect">
            <a:avLst>
              <a:gd name="adj" fmla="val 20000"/>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760720"/>
            <a:ext cx="10637215" cy="548640"/>
          </a:xfrm>
          <a:prstGeom prst="rect">
            <a:avLst/>
          </a:prstGeom>
          <a:noFill/>
        </p:spPr>
        <p:txBody>
          <a:bodyPr wrap="square" lIns="0" tIns="0" rIns="0" bIns="0" anchor="ctr">
            <a:spAutoFit/>
          </a:bodyPr>
          <a:lstStyle/>
          <a:p>
            <a:pPr algn="l">
              <a:spcAft>
                <a:spcPts val="0"/>
              </a:spcAft>
            </a:pPr>
            <a:r>
              <a:rPr sz="1300" b="1" i="0">
                <a:solidFill>
                  <a:srgbClr val="1F4E8C"/>
                </a:solidFill>
                <a:latin typeface="Calibri"/>
              </a:rPr>
              <a:t>Cross-check: the app also reports the textbook UMass coherence (Mimno et al., 2011). NMF wins under both formulas.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03 · RESULTS</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NMF wins on coherence and purity; diversity is a tie</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6</a:t>
            </a:r>
          </a:p>
        </p:txBody>
      </p:sp>
      <p:graphicFrame>
        <p:nvGraphicFramePr>
          <p:cNvPr id="7" name="Chart 6"/>
          <p:cNvGraphicFramePr>
            <a:graphicFrameLocks noGrp="1"/>
          </p:cNvGraphicFramePr>
          <p:nvPr/>
        </p:nvGraphicFramePr>
        <p:xfrm>
          <a:off x="548640" y="1737360"/>
          <a:ext cx="3611880" cy="33832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a:graphicFrameLocks noGrp="1"/>
          </p:cNvGraphicFramePr>
          <p:nvPr/>
        </p:nvGraphicFramePr>
        <p:xfrm>
          <a:off x="4288536" y="1737360"/>
          <a:ext cx="3611880" cy="33832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p:cNvGraphicFramePr>
            <a:graphicFrameLocks noGrp="1"/>
          </p:cNvGraphicFramePr>
          <p:nvPr/>
        </p:nvGraphicFramePr>
        <p:xfrm>
          <a:off x="8028431" y="1737360"/>
          <a:ext cx="3611880" cy="3383280"/>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p:cNvSpPr txBox="1"/>
          <p:nvPr/>
        </p:nvSpPr>
        <p:spPr>
          <a:xfrm>
            <a:off x="548640" y="5166360"/>
            <a:ext cx="3611880" cy="274320"/>
          </a:xfrm>
          <a:prstGeom prst="rect">
            <a:avLst/>
          </a:prstGeom>
          <a:noFill/>
        </p:spPr>
        <p:txBody>
          <a:bodyPr wrap="square" lIns="0" tIns="0" rIns="0" bIns="0" anchor="t">
            <a:spAutoFit/>
          </a:bodyPr>
          <a:lstStyle/>
          <a:p>
            <a:pPr algn="ctr">
              <a:spcAft>
                <a:spcPts val="0"/>
              </a:spcAft>
            </a:pPr>
            <a:r>
              <a:rPr sz="1200" b="0" i="0">
                <a:solidFill>
                  <a:srgbClr val="5B6B82"/>
                </a:solidFill>
                <a:latin typeface="Calibri"/>
              </a:rPr>
              <a:t>Closer to 0 is better</a:t>
            </a:r>
          </a:p>
        </p:txBody>
      </p:sp>
      <p:sp>
        <p:nvSpPr>
          <p:cNvPr id="11" name="Rounded Rectangle 10"/>
          <p:cNvSpPr/>
          <p:nvPr/>
        </p:nvSpPr>
        <p:spPr>
          <a:xfrm>
            <a:off x="1645919" y="5486400"/>
            <a:ext cx="141732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300" b="1">
                <a:solidFill>
                  <a:srgbClr val="23324A"/>
                </a:solidFill>
                <a:latin typeface="Calibri"/>
              </a:rPr>
              <a:t>NMF wins</a:t>
            </a:r>
          </a:p>
        </p:txBody>
      </p:sp>
      <p:sp>
        <p:nvSpPr>
          <p:cNvPr id="12" name="TextBox 11"/>
          <p:cNvSpPr txBox="1"/>
          <p:nvPr/>
        </p:nvSpPr>
        <p:spPr>
          <a:xfrm>
            <a:off x="4288536" y="5166360"/>
            <a:ext cx="3611880" cy="274320"/>
          </a:xfrm>
          <a:prstGeom prst="rect">
            <a:avLst/>
          </a:prstGeom>
          <a:noFill/>
        </p:spPr>
        <p:txBody>
          <a:bodyPr wrap="square" lIns="0" tIns="0" rIns="0" bIns="0" anchor="t">
            <a:spAutoFit/>
          </a:bodyPr>
          <a:lstStyle/>
          <a:p>
            <a:pPr algn="ctr">
              <a:spcAft>
                <a:spcPts val="0"/>
              </a:spcAft>
            </a:pPr>
            <a:r>
              <a:rPr sz="1200" b="0" i="0">
                <a:solidFill>
                  <a:srgbClr val="5B6B82"/>
                </a:solidFill>
                <a:latin typeface="Calibri"/>
              </a:rPr>
              <a:t>Higher is better</a:t>
            </a:r>
          </a:p>
        </p:txBody>
      </p:sp>
      <p:sp>
        <p:nvSpPr>
          <p:cNvPr id="13" name="Rounded Rectangle 12"/>
          <p:cNvSpPr/>
          <p:nvPr/>
        </p:nvSpPr>
        <p:spPr>
          <a:xfrm>
            <a:off x="5385816" y="5486400"/>
            <a:ext cx="1417320" cy="365760"/>
          </a:xfrm>
          <a:prstGeom prst="roundRect">
            <a:avLst>
              <a:gd name="adj" fmla="val 50000"/>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300" b="1">
                <a:solidFill>
                  <a:srgbClr val="23324A"/>
                </a:solidFill>
                <a:latin typeface="Calibri"/>
              </a:rPr>
              <a:t>Tie</a:t>
            </a:r>
          </a:p>
        </p:txBody>
      </p:sp>
      <p:sp>
        <p:nvSpPr>
          <p:cNvPr id="14" name="TextBox 13"/>
          <p:cNvSpPr txBox="1"/>
          <p:nvPr/>
        </p:nvSpPr>
        <p:spPr>
          <a:xfrm>
            <a:off x="8028431" y="5166360"/>
            <a:ext cx="3611880" cy="274320"/>
          </a:xfrm>
          <a:prstGeom prst="rect">
            <a:avLst/>
          </a:prstGeom>
          <a:noFill/>
        </p:spPr>
        <p:txBody>
          <a:bodyPr wrap="square" lIns="0" tIns="0" rIns="0" bIns="0" anchor="t">
            <a:spAutoFit/>
          </a:bodyPr>
          <a:lstStyle/>
          <a:p>
            <a:pPr algn="ctr">
              <a:spcAft>
                <a:spcPts val="0"/>
              </a:spcAft>
            </a:pPr>
            <a:r>
              <a:rPr sz="1200" b="0" i="0">
                <a:solidFill>
                  <a:srgbClr val="5B6B82"/>
                </a:solidFill>
                <a:latin typeface="Calibri"/>
              </a:rPr>
              <a:t>Higher is better</a:t>
            </a:r>
          </a:p>
        </p:txBody>
      </p:sp>
      <p:sp>
        <p:nvSpPr>
          <p:cNvPr id="15" name="Rounded Rectangle 14"/>
          <p:cNvSpPr/>
          <p:nvPr/>
        </p:nvSpPr>
        <p:spPr>
          <a:xfrm>
            <a:off x="9125711" y="5486400"/>
            <a:ext cx="141732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300" b="1">
                <a:solidFill>
                  <a:srgbClr val="23324A"/>
                </a:solidFill>
                <a:latin typeface="Calibri"/>
              </a:rPr>
              <a:t>NMF wins</a:t>
            </a:r>
          </a:p>
        </p:txBody>
      </p:sp>
      <p:sp>
        <p:nvSpPr>
          <p:cNvPr id="16" name="TextBox 15"/>
          <p:cNvSpPr txBox="1"/>
          <p:nvPr/>
        </p:nvSpPr>
        <p:spPr>
          <a:xfrm>
            <a:off x="548640" y="5943600"/>
            <a:ext cx="11094415" cy="365760"/>
          </a:xfrm>
          <a:prstGeom prst="rect">
            <a:avLst/>
          </a:prstGeom>
          <a:noFill/>
        </p:spPr>
        <p:txBody>
          <a:bodyPr wrap="square" lIns="0" tIns="0" rIns="0" bIns="0" anchor="t">
            <a:spAutoFit/>
          </a:bodyPr>
          <a:lstStyle/>
          <a:p>
            <a:pPr algn="ctr">
              <a:spcAft>
                <a:spcPts val="0"/>
              </a:spcAft>
            </a:pPr>
            <a:r>
              <a:rPr sz="1200" b="1" i="0">
                <a:solidFill>
                  <a:srgbClr val="8F6F00"/>
                </a:solidFill>
                <a:latin typeface="Calibri"/>
              </a:rPr>
              <a:t>LDA </a:t>
            </a:r>
            <a:r>
              <a:rPr sz="1200" b="0" i="0">
                <a:solidFill>
                  <a:srgbClr val="5B6B82"/>
                </a:solidFill>
                <a:latin typeface="Calibri"/>
              </a:rPr>
              <a:t>(gold)   ·   </a:t>
            </a:r>
            <a:r>
              <a:rPr sz="1200" b="1" i="0">
                <a:solidFill>
                  <a:srgbClr val="2F6DB5"/>
                </a:solidFill>
                <a:latin typeface="Calibri"/>
              </a:rPr>
              <a:t>NMF </a:t>
            </a:r>
            <a:r>
              <a:rPr sz="1200" b="0" i="0">
                <a:solidFill>
                  <a:srgbClr val="5B6B82"/>
                </a:solidFill>
                <a:latin typeface="Calibri"/>
              </a:rPr>
              <a:t>(blue)   ·   15 topics each, 18,185 posts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03 · RESULTS: THE TOPICS</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NMF's topics read like real subjects, but both models keep one vague catch-all</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7</a:t>
            </a:r>
          </a:p>
        </p:txBody>
      </p:sp>
      <p:sp>
        <p:nvSpPr>
          <p:cNvPr id="7" name="Rounded Rectangle 6"/>
          <p:cNvSpPr/>
          <p:nvPr/>
        </p:nvSpPr>
        <p:spPr>
          <a:xfrm>
            <a:off x="548640" y="1737360"/>
            <a:ext cx="6400800" cy="795528"/>
          </a:xfrm>
          <a:prstGeom prst="roundRect">
            <a:avLst>
              <a:gd name="adj" fmla="val 16091"/>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5800" y="1847088"/>
            <a:ext cx="576072" cy="57607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0.70</a:t>
            </a:r>
          </a:p>
        </p:txBody>
      </p:sp>
      <p:sp>
        <p:nvSpPr>
          <p:cNvPr id="9" name="TextBox 8"/>
          <p:cNvSpPr txBox="1"/>
          <p:nvPr/>
        </p:nvSpPr>
        <p:spPr>
          <a:xfrm>
            <a:off x="1417319" y="1828800"/>
            <a:ext cx="274320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Cars and bikes</a:t>
            </a:r>
          </a:p>
        </p:txBody>
      </p:sp>
      <p:sp>
        <p:nvSpPr>
          <p:cNvPr id="10" name="TextBox 9"/>
          <p:cNvSpPr txBox="1"/>
          <p:nvPr/>
        </p:nvSpPr>
        <p:spPr>
          <a:xfrm>
            <a:off x="1417319" y="2148840"/>
            <a:ext cx="5486400" cy="320040"/>
          </a:xfrm>
          <a:prstGeom prst="rect">
            <a:avLst/>
          </a:prstGeom>
          <a:noFill/>
        </p:spPr>
        <p:txBody>
          <a:bodyPr wrap="square" lIns="0" tIns="0" rIns="0" bIns="0" anchor="t">
            <a:spAutoFit/>
          </a:bodyPr>
          <a:lstStyle/>
          <a:p>
            <a:pPr algn="l">
              <a:spcAft>
                <a:spcPts val="0"/>
              </a:spcAft>
            </a:pPr>
            <a:r>
              <a:rPr sz="1300" b="0" i="0">
                <a:solidFill>
                  <a:srgbClr val="5B6B82"/>
                </a:solidFill>
                <a:latin typeface="Calibri"/>
              </a:rPr>
              <a:t>car, engine, mile, bike, dealer, ford</a:t>
            </a:r>
          </a:p>
        </p:txBody>
      </p:sp>
      <p:sp>
        <p:nvSpPr>
          <p:cNvPr id="11" name="Rounded Rectangle 10"/>
          <p:cNvSpPr/>
          <p:nvPr/>
        </p:nvSpPr>
        <p:spPr>
          <a:xfrm>
            <a:off x="4709159" y="1865376"/>
            <a:ext cx="2103120" cy="274320"/>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rec.autos</a:t>
            </a:r>
          </a:p>
        </p:txBody>
      </p:sp>
      <p:sp>
        <p:nvSpPr>
          <p:cNvPr id="12" name="Rounded Rectangle 11"/>
          <p:cNvSpPr/>
          <p:nvPr/>
        </p:nvSpPr>
        <p:spPr>
          <a:xfrm>
            <a:off x="548640" y="2642615"/>
            <a:ext cx="6400800" cy="795528"/>
          </a:xfrm>
          <a:prstGeom prst="roundRect">
            <a:avLst>
              <a:gd name="adj" fmla="val 16091"/>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5800" y="2752344"/>
            <a:ext cx="576072" cy="57607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0.68</a:t>
            </a:r>
          </a:p>
        </p:txBody>
      </p:sp>
      <p:sp>
        <p:nvSpPr>
          <p:cNvPr id="14" name="TextBox 13"/>
          <p:cNvSpPr txBox="1"/>
          <p:nvPr/>
        </p:nvSpPr>
        <p:spPr>
          <a:xfrm>
            <a:off x="1417319" y="2734056"/>
            <a:ext cx="274320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Cryptography</a:t>
            </a:r>
          </a:p>
        </p:txBody>
      </p:sp>
      <p:sp>
        <p:nvSpPr>
          <p:cNvPr id="15" name="TextBox 14"/>
          <p:cNvSpPr txBox="1"/>
          <p:nvPr/>
        </p:nvSpPr>
        <p:spPr>
          <a:xfrm>
            <a:off x="1417319" y="3054096"/>
            <a:ext cx="5486400" cy="320040"/>
          </a:xfrm>
          <a:prstGeom prst="rect">
            <a:avLst/>
          </a:prstGeom>
          <a:noFill/>
        </p:spPr>
        <p:txBody>
          <a:bodyPr wrap="square" lIns="0" tIns="0" rIns="0" bIns="0" anchor="t">
            <a:spAutoFit/>
          </a:bodyPr>
          <a:lstStyle/>
          <a:p>
            <a:pPr algn="l">
              <a:spcAft>
                <a:spcPts val="0"/>
              </a:spcAft>
            </a:pPr>
            <a:r>
              <a:rPr sz="1300" b="0" i="0">
                <a:solidFill>
                  <a:srgbClr val="5B6B82"/>
                </a:solidFill>
                <a:latin typeface="Calibri"/>
              </a:rPr>
              <a:t>key, chip, clipper, encryption, phone, bit</a:t>
            </a:r>
          </a:p>
        </p:txBody>
      </p:sp>
      <p:sp>
        <p:nvSpPr>
          <p:cNvPr id="16" name="Rounded Rectangle 15"/>
          <p:cNvSpPr/>
          <p:nvPr/>
        </p:nvSpPr>
        <p:spPr>
          <a:xfrm>
            <a:off x="4709159" y="2770632"/>
            <a:ext cx="2103120" cy="274320"/>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sci.crypt</a:t>
            </a:r>
          </a:p>
        </p:txBody>
      </p:sp>
      <p:sp>
        <p:nvSpPr>
          <p:cNvPr id="17" name="Rounded Rectangle 16"/>
          <p:cNvSpPr/>
          <p:nvPr/>
        </p:nvSpPr>
        <p:spPr>
          <a:xfrm>
            <a:off x="548640" y="3547872"/>
            <a:ext cx="6400800" cy="795528"/>
          </a:xfrm>
          <a:prstGeom prst="roundRect">
            <a:avLst>
              <a:gd name="adj" fmla="val 16091"/>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 y="3657600"/>
            <a:ext cx="576072" cy="57607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0.66</a:t>
            </a:r>
          </a:p>
        </p:txBody>
      </p:sp>
      <p:sp>
        <p:nvSpPr>
          <p:cNvPr id="19" name="TextBox 18"/>
          <p:cNvSpPr txBox="1"/>
          <p:nvPr/>
        </p:nvSpPr>
        <p:spPr>
          <a:xfrm>
            <a:off x="1417319" y="3639312"/>
            <a:ext cx="274320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Armenian-Turkish conflict</a:t>
            </a:r>
          </a:p>
        </p:txBody>
      </p:sp>
      <p:sp>
        <p:nvSpPr>
          <p:cNvPr id="20" name="TextBox 19"/>
          <p:cNvSpPr txBox="1"/>
          <p:nvPr/>
        </p:nvSpPr>
        <p:spPr>
          <a:xfrm>
            <a:off x="1417319" y="3959352"/>
            <a:ext cx="5486400" cy="320040"/>
          </a:xfrm>
          <a:prstGeom prst="rect">
            <a:avLst/>
          </a:prstGeom>
          <a:noFill/>
        </p:spPr>
        <p:txBody>
          <a:bodyPr wrap="square" lIns="0" tIns="0" rIns="0" bIns="0" anchor="t">
            <a:spAutoFit/>
          </a:bodyPr>
          <a:lstStyle/>
          <a:p>
            <a:pPr algn="l">
              <a:spcAft>
                <a:spcPts val="0"/>
              </a:spcAft>
            </a:pPr>
            <a:r>
              <a:rPr sz="1300" b="0" i="0">
                <a:solidFill>
                  <a:srgbClr val="5B6B82"/>
                </a:solidFill>
                <a:latin typeface="Calibri"/>
              </a:rPr>
              <a:t>armenian, turkish, muslim, genocide, turkey, armenia</a:t>
            </a:r>
          </a:p>
        </p:txBody>
      </p:sp>
      <p:sp>
        <p:nvSpPr>
          <p:cNvPr id="21" name="Rounded Rectangle 20"/>
          <p:cNvSpPr/>
          <p:nvPr/>
        </p:nvSpPr>
        <p:spPr>
          <a:xfrm>
            <a:off x="4709159" y="3675887"/>
            <a:ext cx="2103120" cy="274320"/>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talk.politics.mideast</a:t>
            </a:r>
          </a:p>
        </p:txBody>
      </p:sp>
      <p:sp>
        <p:nvSpPr>
          <p:cNvPr id="22" name="Rounded Rectangle 21"/>
          <p:cNvSpPr/>
          <p:nvPr/>
        </p:nvSpPr>
        <p:spPr>
          <a:xfrm>
            <a:off x="548640" y="4453127"/>
            <a:ext cx="6400800" cy="795528"/>
          </a:xfrm>
          <a:prstGeom prst="roundRect">
            <a:avLst>
              <a:gd name="adj" fmla="val 16091"/>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85800" y="4562855"/>
            <a:ext cx="576072" cy="57607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0.56</a:t>
            </a:r>
          </a:p>
        </p:txBody>
      </p:sp>
      <p:sp>
        <p:nvSpPr>
          <p:cNvPr id="24" name="TextBox 23"/>
          <p:cNvSpPr txBox="1"/>
          <p:nvPr/>
        </p:nvSpPr>
        <p:spPr>
          <a:xfrm>
            <a:off x="1417319" y="4544567"/>
            <a:ext cx="274320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Religion</a:t>
            </a:r>
          </a:p>
        </p:txBody>
      </p:sp>
      <p:sp>
        <p:nvSpPr>
          <p:cNvPr id="25" name="TextBox 24"/>
          <p:cNvSpPr txBox="1"/>
          <p:nvPr/>
        </p:nvSpPr>
        <p:spPr>
          <a:xfrm>
            <a:off x="1417319" y="4864607"/>
            <a:ext cx="5486400" cy="320040"/>
          </a:xfrm>
          <a:prstGeom prst="rect">
            <a:avLst/>
          </a:prstGeom>
          <a:noFill/>
        </p:spPr>
        <p:txBody>
          <a:bodyPr wrap="square" lIns="0" tIns="0" rIns="0" bIns="0" anchor="t">
            <a:spAutoFit/>
          </a:bodyPr>
          <a:lstStyle/>
          <a:p>
            <a:pPr algn="l">
              <a:spcAft>
                <a:spcPts val="0"/>
              </a:spcAft>
            </a:pPr>
            <a:r>
              <a:rPr sz="1300" b="0" i="0">
                <a:solidFill>
                  <a:srgbClr val="5B6B82"/>
                </a:solidFill>
                <a:latin typeface="Calibri"/>
              </a:rPr>
              <a:t>god, jesus, christian, bible, believe, christ</a:t>
            </a:r>
          </a:p>
        </p:txBody>
      </p:sp>
      <p:sp>
        <p:nvSpPr>
          <p:cNvPr id="26" name="Rounded Rectangle 25"/>
          <p:cNvSpPr/>
          <p:nvPr/>
        </p:nvSpPr>
        <p:spPr>
          <a:xfrm>
            <a:off x="4709159" y="4581143"/>
            <a:ext cx="2103120" cy="274320"/>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soc.religion.christian</a:t>
            </a:r>
          </a:p>
        </p:txBody>
      </p:sp>
      <p:sp>
        <p:nvSpPr>
          <p:cNvPr id="27" name="Rounded Rectangle 26"/>
          <p:cNvSpPr/>
          <p:nvPr/>
        </p:nvSpPr>
        <p:spPr>
          <a:xfrm>
            <a:off x="548640" y="5358383"/>
            <a:ext cx="6400800" cy="795528"/>
          </a:xfrm>
          <a:prstGeom prst="roundRect">
            <a:avLst>
              <a:gd name="adj" fmla="val 16091"/>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85800" y="5468112"/>
            <a:ext cx="576072" cy="57607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3324A"/>
                </a:solidFill>
                <a:latin typeface="Calibri"/>
              </a:rPr>
              <a:t>0.55</a:t>
            </a:r>
          </a:p>
        </p:txBody>
      </p:sp>
      <p:sp>
        <p:nvSpPr>
          <p:cNvPr id="29" name="TextBox 28"/>
          <p:cNvSpPr txBox="1"/>
          <p:nvPr/>
        </p:nvSpPr>
        <p:spPr>
          <a:xfrm>
            <a:off x="1417319" y="5449823"/>
            <a:ext cx="2743200" cy="274320"/>
          </a:xfrm>
          <a:prstGeom prst="rect">
            <a:avLst/>
          </a:prstGeom>
          <a:noFill/>
        </p:spPr>
        <p:txBody>
          <a:bodyPr wrap="square" lIns="0" tIns="0" rIns="0" bIns="0" anchor="t">
            <a:spAutoFit/>
          </a:bodyPr>
          <a:lstStyle/>
          <a:p>
            <a:pPr algn="l">
              <a:spcAft>
                <a:spcPts val="0"/>
              </a:spcAft>
            </a:pPr>
            <a:r>
              <a:rPr sz="1600" b="1" i="0">
                <a:solidFill>
                  <a:srgbClr val="1F4E8C"/>
                </a:solidFill>
                <a:latin typeface="Calibri"/>
              </a:rPr>
              <a:t>Sport</a:t>
            </a:r>
          </a:p>
        </p:txBody>
      </p:sp>
      <p:sp>
        <p:nvSpPr>
          <p:cNvPr id="30" name="TextBox 29"/>
          <p:cNvSpPr txBox="1"/>
          <p:nvPr/>
        </p:nvSpPr>
        <p:spPr>
          <a:xfrm>
            <a:off x="1417319" y="5769864"/>
            <a:ext cx="5486400" cy="320040"/>
          </a:xfrm>
          <a:prstGeom prst="rect">
            <a:avLst/>
          </a:prstGeom>
          <a:noFill/>
        </p:spPr>
        <p:txBody>
          <a:bodyPr wrap="square" lIns="0" tIns="0" rIns="0" bIns="0" anchor="t">
            <a:spAutoFit/>
          </a:bodyPr>
          <a:lstStyle/>
          <a:p>
            <a:pPr algn="l">
              <a:spcAft>
                <a:spcPts val="0"/>
              </a:spcAft>
            </a:pPr>
            <a:r>
              <a:rPr sz="1300" b="0" i="0">
                <a:solidFill>
                  <a:srgbClr val="5B6B82"/>
                </a:solidFill>
                <a:latin typeface="Calibri"/>
              </a:rPr>
              <a:t>game, team, player, hockey, year, baseball</a:t>
            </a:r>
          </a:p>
        </p:txBody>
      </p:sp>
      <p:sp>
        <p:nvSpPr>
          <p:cNvPr id="31" name="Rounded Rectangle 30"/>
          <p:cNvSpPr/>
          <p:nvPr/>
        </p:nvSpPr>
        <p:spPr>
          <a:xfrm>
            <a:off x="4709159" y="5486399"/>
            <a:ext cx="2103120" cy="274320"/>
          </a:xfrm>
          <a:prstGeom prst="roundRect">
            <a:avLst>
              <a:gd name="adj" fmla="val 50000"/>
            </a:avLst>
          </a:prstGeom>
          <a:solidFill>
            <a:srgbClr val="F6EBC0"/>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rec.sport.hockey</a:t>
            </a:r>
          </a:p>
        </p:txBody>
      </p:sp>
      <p:sp>
        <p:nvSpPr>
          <p:cNvPr id="32" name="TextBox 31"/>
          <p:cNvSpPr txBox="1"/>
          <p:nvPr/>
        </p:nvSpPr>
        <p:spPr>
          <a:xfrm>
            <a:off x="548640" y="6263640"/>
            <a:ext cx="6400800" cy="182880"/>
          </a:xfrm>
          <a:prstGeom prst="rect">
            <a:avLst/>
          </a:prstGeom>
          <a:noFill/>
        </p:spPr>
        <p:txBody>
          <a:bodyPr wrap="square" lIns="0" tIns="0" rIns="0" bIns="0" anchor="t">
            <a:spAutoFit/>
          </a:bodyPr>
          <a:lstStyle/>
          <a:p>
            <a:pPr algn="l">
              <a:spcAft>
                <a:spcPts val="0"/>
              </a:spcAft>
            </a:pPr>
            <a:endParaRPr/>
          </a:p>
        </p:txBody>
      </p:sp>
      <p:sp>
        <p:nvSpPr>
          <p:cNvPr id="33" name="Rounded Rectangle 32"/>
          <p:cNvSpPr/>
          <p:nvPr/>
        </p:nvSpPr>
        <p:spPr>
          <a:xfrm>
            <a:off x="7223760" y="1737360"/>
            <a:ext cx="4416552" cy="2148840"/>
          </a:xfrm>
          <a:prstGeom prst="roundRect">
            <a:avLst>
              <a:gd name="adj" fmla="val 5957"/>
            </a:avLst>
          </a:prstGeom>
          <a:solidFill>
            <a:srgbClr val="FFFFFF"/>
          </a:solidFill>
          <a:ln w="12700">
            <a:solidFill>
              <a:srgbClr val="6FA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52360" y="1847088"/>
            <a:ext cx="402336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THE CATCH-ALL TOPIC</a:t>
            </a:r>
          </a:p>
        </p:txBody>
      </p:sp>
      <p:sp>
        <p:nvSpPr>
          <p:cNvPr id="35" name="TextBox 34"/>
          <p:cNvSpPr txBox="1"/>
          <p:nvPr/>
        </p:nvSpPr>
        <p:spPr>
          <a:xfrm>
            <a:off x="7452360" y="2148840"/>
            <a:ext cx="4023360" cy="685800"/>
          </a:xfrm>
          <a:prstGeom prst="rect">
            <a:avLst/>
          </a:prstGeom>
          <a:noFill/>
        </p:spPr>
        <p:txBody>
          <a:bodyPr wrap="square" lIns="0" tIns="0" rIns="0" bIns="0" anchor="t">
            <a:spAutoFit/>
          </a:bodyPr>
          <a:lstStyle/>
          <a:p>
            <a:pPr algn="l">
              <a:spcAft>
                <a:spcPts val="0"/>
              </a:spcAft>
            </a:pPr>
            <a:r>
              <a:rPr sz="3000" b="1" i="0">
                <a:solidFill>
                  <a:srgbClr val="1F4E8C"/>
                </a:solidFill>
                <a:latin typeface="Cambria"/>
              </a:rPr>
              <a:t>4,956</a:t>
            </a:r>
            <a:r>
              <a:rPr sz="1400" b="1" i="0">
                <a:solidFill>
                  <a:srgbClr val="5B6B82"/>
                </a:solidFill>
                <a:latin typeface="Calibri"/>
              </a:rPr>
              <a:t>  LDA posts</a:t>
            </a:r>
            <a:r>
              <a:rPr sz="3000" b="1" i="0">
                <a:solidFill>
                  <a:srgbClr val="1F4E8C"/>
                </a:solidFill>
                <a:latin typeface="Cambria"/>
              </a:rPr>
              <a:t>    3,341</a:t>
            </a:r>
            <a:r>
              <a:rPr sz="1400" b="1" i="0">
                <a:solidFill>
                  <a:srgbClr val="5B6B82"/>
                </a:solidFill>
                <a:latin typeface="Calibri"/>
              </a:rPr>
              <a:t>  NMF</a:t>
            </a:r>
          </a:p>
        </p:txBody>
      </p:sp>
      <p:sp>
        <p:nvSpPr>
          <p:cNvPr id="36" name="TextBox 35"/>
          <p:cNvSpPr txBox="1"/>
          <p:nvPr/>
        </p:nvSpPr>
        <p:spPr>
          <a:xfrm>
            <a:off x="7452360" y="2926080"/>
            <a:ext cx="4023360" cy="91440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Words like people, time, year, good: ordinary chat with no strong subject.</a:t>
            </a:r>
          </a:p>
        </p:txBody>
      </p:sp>
      <p:sp>
        <p:nvSpPr>
          <p:cNvPr id="37" name="Rounded Rectangle 36"/>
          <p:cNvSpPr/>
          <p:nvPr/>
        </p:nvSpPr>
        <p:spPr>
          <a:xfrm>
            <a:off x="7223760" y="4069080"/>
            <a:ext cx="4416552" cy="2194560"/>
          </a:xfrm>
          <a:prstGeom prst="roundRect">
            <a:avLst>
              <a:gd name="adj" fmla="val 5833"/>
            </a:avLst>
          </a:prstGeom>
          <a:solidFill>
            <a:srgbClr val="FFFFFF"/>
          </a:solidFill>
          <a:ln w="12700">
            <a:solidFill>
              <a:srgbClr val="6FA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52360" y="4178808"/>
            <a:ext cx="402336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AN ARTEFACT TO WATCH</a:t>
            </a:r>
          </a:p>
        </p:txBody>
      </p:sp>
      <p:sp>
        <p:nvSpPr>
          <p:cNvPr id="39" name="TextBox 38"/>
          <p:cNvSpPr txBox="1"/>
          <p:nvPr/>
        </p:nvSpPr>
        <p:spPr>
          <a:xfrm>
            <a:off x="7452360" y="4480560"/>
            <a:ext cx="4023360" cy="365760"/>
          </a:xfrm>
          <a:prstGeom prst="rect">
            <a:avLst/>
          </a:prstGeom>
          <a:noFill/>
        </p:spPr>
        <p:txBody>
          <a:bodyPr wrap="square" lIns="0" tIns="0" rIns="0" bIns="0" anchor="t">
            <a:spAutoFit/>
          </a:bodyPr>
          <a:lstStyle/>
          <a:p>
            <a:pPr algn="l">
              <a:spcAft>
                <a:spcPts val="0"/>
              </a:spcAft>
            </a:pPr>
            <a:r>
              <a:rPr sz="1700" b="1" i="0">
                <a:solidFill>
                  <a:srgbClr val="1F4E8C"/>
                </a:solidFill>
                <a:latin typeface="Cambria"/>
              </a:rPr>
              <a:t>NMF Topic 13: purity 0.658</a:t>
            </a:r>
          </a:p>
        </p:txBody>
      </p:sp>
      <p:sp>
        <p:nvSpPr>
          <p:cNvPr id="40" name="TextBox 39"/>
          <p:cNvSpPr txBox="1"/>
          <p:nvPr/>
        </p:nvSpPr>
        <p:spPr>
          <a:xfrm>
            <a:off x="7452360" y="4937760"/>
            <a:ext cx="4023360" cy="128016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Words: bank, chastity, skepticism, intellect, surrender. One poster's repeated quote made a topic that is not about medicine.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03 · RESULTS: ROBUSTNESS CHECK</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NMF stayed ahead in all seven LDA re-runs</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8</a:t>
            </a:r>
          </a:p>
        </p:txBody>
      </p:sp>
      <p:graphicFrame>
        <p:nvGraphicFramePr>
          <p:cNvPr id="7" name="Chart 6"/>
          <p:cNvGraphicFramePr>
            <a:graphicFrameLocks noGrp="1"/>
          </p:cNvGraphicFramePr>
          <p:nvPr/>
        </p:nvGraphicFramePr>
        <p:xfrm>
          <a:off x="548640" y="1691640"/>
          <a:ext cx="5486400" cy="3520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a:graphicFrameLocks noGrp="1"/>
          </p:cNvGraphicFramePr>
          <p:nvPr/>
        </p:nvGraphicFramePr>
        <p:xfrm>
          <a:off x="6156655" y="1691640"/>
          <a:ext cx="5486400" cy="3520440"/>
        </p:xfrm>
        <a:graphic>
          <a:graphicData uri="http://schemas.openxmlformats.org/drawingml/2006/chart">
            <c:chart xmlns:c="http://schemas.openxmlformats.org/drawingml/2006/chart" xmlns:r="http://schemas.openxmlformats.org/officeDocument/2006/relationships" r:id="rId5"/>
          </a:graphicData>
        </a:graphic>
      </p:graphicFrame>
      <p:sp>
        <p:nvSpPr>
          <p:cNvPr id="9" name="Rounded Rectangle 8"/>
          <p:cNvSpPr/>
          <p:nvPr/>
        </p:nvSpPr>
        <p:spPr>
          <a:xfrm>
            <a:off x="548640" y="5394960"/>
            <a:ext cx="7040880" cy="868680"/>
          </a:xfrm>
          <a:prstGeom prst="roundRect">
            <a:avLst>
              <a:gd name="adj" fmla="val 14736"/>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5394960"/>
            <a:ext cx="6583680" cy="868680"/>
          </a:xfrm>
          <a:prstGeom prst="rect">
            <a:avLst/>
          </a:prstGeom>
          <a:noFill/>
        </p:spPr>
        <p:txBody>
          <a:bodyPr wrap="square" lIns="0" tIns="0" rIns="0" bIns="0" anchor="ctr">
            <a:spAutoFit/>
          </a:bodyPr>
          <a:lstStyle/>
          <a:p>
            <a:pPr algn="l">
              <a:spcAft>
                <a:spcPts val="0"/>
              </a:spcAft>
            </a:pPr>
            <a:r>
              <a:rPr sz="2200" b="1" i="0">
                <a:solidFill>
                  <a:srgbClr val="F6EBC0"/>
                </a:solidFill>
                <a:latin typeface="Cambria"/>
              </a:rPr>
              <a:t>7 of 7 </a:t>
            </a:r>
            <a:r>
              <a:rPr sz="1500" b="1" i="0">
                <a:solidFill>
                  <a:srgbClr val="FFFFFF"/>
                </a:solidFill>
                <a:latin typeface="Calibri"/>
              </a:rPr>
              <a:t>LDA runs had lower coherence and lower purity than NMF.</a:t>
            </a:r>
          </a:p>
        </p:txBody>
      </p:sp>
      <p:sp>
        <p:nvSpPr>
          <p:cNvPr id="11" name="TextBox 10"/>
          <p:cNvSpPr txBox="1"/>
          <p:nvPr/>
        </p:nvSpPr>
        <p:spPr>
          <a:xfrm>
            <a:off x="7818120" y="5394960"/>
            <a:ext cx="3822191" cy="868680"/>
          </a:xfrm>
          <a:prstGeom prst="rect">
            <a:avLst/>
          </a:prstGeom>
          <a:noFill/>
        </p:spPr>
        <p:txBody>
          <a:bodyPr wrap="square" lIns="0" tIns="0" rIns="0" bIns="0" anchor="ctr">
            <a:spAutoFit/>
          </a:bodyPr>
          <a:lstStyle/>
          <a:p>
            <a:pPr algn="l">
              <a:spcAft>
                <a:spcPts val="0"/>
              </a:spcAft>
            </a:pPr>
            <a:r>
              <a:rPr sz="1200" b="0" i="0">
                <a:solidFill>
                  <a:srgbClr val="5B6B82"/>
                </a:solidFill>
                <a:latin typeface="Calibri"/>
              </a:rPr>
              <a:t>s = random seed, 4w = four parallel workers. LDA's exact numbers move between runs; the ranking does not.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04 · INTERPRETATION</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Recommendation: use NMF, keep LDA for soft topic mixtures</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9</a:t>
            </a:r>
          </a:p>
        </p:txBody>
      </p:sp>
      <p:sp>
        <p:nvSpPr>
          <p:cNvPr id="7" name="Rounded Rectangle 6"/>
          <p:cNvSpPr/>
          <p:nvPr/>
        </p:nvSpPr>
        <p:spPr>
          <a:xfrm>
            <a:off x="548640" y="1737360"/>
            <a:ext cx="6172200" cy="1600200"/>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1874519"/>
            <a:ext cx="1371600" cy="29260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23324A"/>
                </a:solidFill>
                <a:latin typeface="Calibri"/>
              </a:rPr>
              <a:t>RECOMMENDED</a:t>
            </a:r>
          </a:p>
        </p:txBody>
      </p:sp>
      <p:sp>
        <p:nvSpPr>
          <p:cNvPr id="9" name="TextBox 8"/>
          <p:cNvSpPr txBox="1"/>
          <p:nvPr/>
        </p:nvSpPr>
        <p:spPr>
          <a:xfrm>
            <a:off x="2331720" y="1847088"/>
            <a:ext cx="4206240" cy="365760"/>
          </a:xfrm>
          <a:prstGeom prst="rect">
            <a:avLst/>
          </a:prstGeom>
          <a:noFill/>
        </p:spPr>
        <p:txBody>
          <a:bodyPr wrap="square" lIns="0" tIns="0" rIns="0" bIns="0" anchor="t">
            <a:spAutoFit/>
          </a:bodyPr>
          <a:lstStyle/>
          <a:p>
            <a:pPr algn="l">
              <a:spcAft>
                <a:spcPts val="0"/>
              </a:spcAft>
            </a:pPr>
            <a:r>
              <a:rPr sz="2200" b="1" i="0">
                <a:solidFill>
                  <a:srgbClr val="1F4E8C"/>
                </a:solidFill>
                <a:latin typeface="Cambria"/>
              </a:rPr>
              <a:t>NMF</a:t>
            </a:r>
          </a:p>
        </p:txBody>
      </p:sp>
      <p:sp>
        <p:nvSpPr>
          <p:cNvPr id="10" name="TextBox 9"/>
          <p:cNvSpPr txBox="1"/>
          <p:nvPr/>
        </p:nvSpPr>
        <p:spPr>
          <a:xfrm>
            <a:off x="777240" y="2286000"/>
            <a:ext cx="5760720" cy="1005840"/>
          </a:xfrm>
          <a:prstGeom prst="rect">
            <a:avLst/>
          </a:prstGeom>
          <a:noFill/>
        </p:spPr>
        <p:txBody>
          <a:bodyPr wrap="square" lIns="0" tIns="0" rIns="0" bIns="0" anchor="t">
            <a:spAutoFit/>
          </a:bodyPr>
          <a:lstStyle/>
          <a:p>
            <a:pPr algn="l">
              <a:spcAft>
                <a:spcPts val="0"/>
              </a:spcAft>
            </a:pPr>
            <a:r>
              <a:rPr sz="1600" b="0" i="0">
                <a:solidFill>
                  <a:srgbClr val="23324A"/>
                </a:solidFill>
                <a:latin typeface="Calibri"/>
              </a:rPr>
              <a:t>More coherent and more pure: sharp, human-recognisable topics. Best for routing documents by topic.</a:t>
            </a:r>
          </a:p>
        </p:txBody>
      </p:sp>
      <p:sp>
        <p:nvSpPr>
          <p:cNvPr id="11" name="Rounded Rectangle 10"/>
          <p:cNvSpPr/>
          <p:nvPr/>
        </p:nvSpPr>
        <p:spPr>
          <a:xfrm>
            <a:off x="548640" y="3520440"/>
            <a:ext cx="6172200" cy="1325880"/>
          </a:xfrm>
          <a:prstGeom prst="roundRect">
            <a:avLst>
              <a:gd name="adj" fmla="val 9655"/>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 y="3657600"/>
            <a:ext cx="1371600" cy="292608"/>
          </a:xfrm>
          <a:prstGeom prst="roundRect">
            <a:avLst>
              <a:gd name="adj" fmla="val 50000"/>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00" b="1">
                <a:solidFill>
                  <a:srgbClr val="1F4E8C"/>
                </a:solidFill>
                <a:latin typeface="Calibri"/>
              </a:rPr>
              <a:t>ALTERNATIVE</a:t>
            </a:r>
          </a:p>
        </p:txBody>
      </p:sp>
      <p:sp>
        <p:nvSpPr>
          <p:cNvPr id="13" name="TextBox 12"/>
          <p:cNvSpPr txBox="1"/>
          <p:nvPr/>
        </p:nvSpPr>
        <p:spPr>
          <a:xfrm>
            <a:off x="2331720" y="3630168"/>
            <a:ext cx="4206240" cy="365760"/>
          </a:xfrm>
          <a:prstGeom prst="rect">
            <a:avLst/>
          </a:prstGeom>
          <a:noFill/>
        </p:spPr>
        <p:txBody>
          <a:bodyPr wrap="square" lIns="0" tIns="0" rIns="0" bIns="0" anchor="t">
            <a:spAutoFit/>
          </a:bodyPr>
          <a:lstStyle/>
          <a:p>
            <a:pPr algn="l">
              <a:spcAft>
                <a:spcPts val="0"/>
              </a:spcAft>
            </a:pPr>
            <a:r>
              <a:rPr sz="2200" b="1" i="0">
                <a:solidFill>
                  <a:srgbClr val="1F4E8C"/>
                </a:solidFill>
                <a:latin typeface="Cambria"/>
              </a:rPr>
              <a:t>LDA</a:t>
            </a:r>
          </a:p>
        </p:txBody>
      </p:sp>
      <p:sp>
        <p:nvSpPr>
          <p:cNvPr id="14" name="TextBox 13"/>
          <p:cNvSpPr txBox="1"/>
          <p:nvPr/>
        </p:nvSpPr>
        <p:spPr>
          <a:xfrm>
            <a:off x="777240" y="4069080"/>
            <a:ext cx="5760720" cy="731520"/>
          </a:xfrm>
          <a:prstGeom prst="rect">
            <a:avLst/>
          </a:prstGeom>
          <a:noFill/>
        </p:spPr>
        <p:txBody>
          <a:bodyPr wrap="square" lIns="0" tIns="0" rIns="0" bIns="0" anchor="t">
            <a:spAutoFit/>
          </a:bodyPr>
          <a:lstStyle/>
          <a:p>
            <a:pPr algn="l">
              <a:spcAft>
                <a:spcPts val="0"/>
              </a:spcAft>
            </a:pPr>
            <a:r>
              <a:rPr sz="1500" b="0" i="0">
                <a:solidFill>
                  <a:srgbClr val="23324A"/>
                </a:solidFill>
                <a:latin typeface="Calibri"/>
              </a:rPr>
              <a:t>Gives a probability mix per post (60% politics, 30% economics) and spreads over a wide vocabulary.</a:t>
            </a:r>
          </a:p>
        </p:txBody>
      </p:sp>
      <p:sp>
        <p:nvSpPr>
          <p:cNvPr id="15" name="Rounded Rectangle 14"/>
          <p:cNvSpPr/>
          <p:nvPr/>
        </p:nvSpPr>
        <p:spPr>
          <a:xfrm>
            <a:off x="548640" y="5029200"/>
            <a:ext cx="6172200" cy="1234440"/>
          </a:xfrm>
          <a:prstGeom prst="roundRect">
            <a:avLst>
              <a:gd name="adj" fmla="val 10370"/>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120640"/>
            <a:ext cx="576072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WHAT THE CORPUS TELLS US</a:t>
            </a:r>
          </a:p>
        </p:txBody>
      </p:sp>
      <p:sp>
        <p:nvSpPr>
          <p:cNvPr id="17" name="TextBox 16"/>
          <p:cNvSpPr txBox="1"/>
          <p:nvPr/>
        </p:nvSpPr>
        <p:spPr>
          <a:xfrm>
            <a:off x="777240" y="5413248"/>
            <a:ext cx="5760720" cy="82296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Topics with their own vocabulary (crypto, cars, sport) are found easily. Overlapping newsgroups blur together, so purity has a ceiling.</a:t>
            </a:r>
          </a:p>
        </p:txBody>
      </p:sp>
      <p:sp>
        <p:nvSpPr>
          <p:cNvPr id="18" name="Rounded Rectangle 17"/>
          <p:cNvSpPr/>
          <p:nvPr/>
        </p:nvSpPr>
        <p:spPr>
          <a:xfrm>
            <a:off x="6995160" y="1737360"/>
            <a:ext cx="4645152" cy="4526280"/>
          </a:xfrm>
          <a:prstGeom prst="roundRect">
            <a:avLst>
              <a:gd name="adj" fmla="val 3232"/>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69480" y="1920240"/>
            <a:ext cx="4114800" cy="274320"/>
          </a:xfrm>
          <a:prstGeom prst="rect">
            <a:avLst/>
          </a:prstGeom>
          <a:noFill/>
        </p:spPr>
        <p:txBody>
          <a:bodyPr wrap="square" lIns="0" tIns="0" rIns="0" bIns="0" anchor="t">
            <a:spAutoFit/>
          </a:bodyPr>
          <a:lstStyle/>
          <a:p>
            <a:pPr algn="l">
              <a:spcAft>
                <a:spcPts val="0"/>
              </a:spcAft>
            </a:pPr>
            <a:r>
              <a:rPr sz="1200" b="1" i="0">
                <a:solidFill>
                  <a:srgbClr val="F6EBC0"/>
                </a:solidFill>
                <a:latin typeface="Calibri"/>
              </a:rPr>
              <a:t>TRY IT LIVE</a:t>
            </a:r>
          </a:p>
        </p:txBody>
      </p:sp>
      <p:sp>
        <p:nvSpPr>
          <p:cNvPr id="20" name="TextBox 19"/>
          <p:cNvSpPr txBox="1"/>
          <p:nvPr/>
        </p:nvSpPr>
        <p:spPr>
          <a:xfrm>
            <a:off x="7269480" y="2240280"/>
            <a:ext cx="4114800" cy="731520"/>
          </a:xfrm>
          <a:prstGeom prst="rect">
            <a:avLst/>
          </a:prstGeom>
          <a:noFill/>
        </p:spPr>
        <p:txBody>
          <a:bodyPr wrap="square" lIns="0" tIns="0" rIns="0" bIns="0" anchor="t">
            <a:spAutoFit/>
          </a:bodyPr>
          <a:lstStyle/>
          <a:p>
            <a:pPr algn="l">
              <a:spcAft>
                <a:spcPts val="0"/>
              </a:spcAft>
            </a:pPr>
            <a:r>
              <a:rPr sz="2000" b="1" i="0">
                <a:solidFill>
                  <a:srgbClr val="FFFFFF"/>
                </a:solidFill>
                <a:latin typeface="Cambria"/>
              </a:rPr>
              <a:t>Paste any text and both models name its topic</a:t>
            </a:r>
          </a:p>
        </p:txBody>
      </p:sp>
      <p:sp>
        <p:nvSpPr>
          <p:cNvPr id="21" name="Rounded Rectangle 20">
            <a:hlinkClick r:id="rId4"/>
          </p:cNvPr>
          <p:cNvSpPr/>
          <p:nvPr/>
        </p:nvSpPr>
        <p:spPr>
          <a:xfrm>
            <a:off x="7269480" y="3108960"/>
            <a:ext cx="4114800" cy="45720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lang="en-US" sz="1500" b="1" dirty="0">
                <a:solidFill>
                  <a:srgbClr val="23324A"/>
                </a:solidFill>
                <a:latin typeface="Calibri"/>
                <a:hlinkClick r:id="rId5"/>
              </a:rPr>
              <a:t>https://group14-news-topic-modelling.streamlit.app/</a:t>
            </a:r>
            <a:endParaRPr sz="1500" b="1" dirty="0">
              <a:solidFill>
                <a:srgbClr val="23324A"/>
              </a:solidFill>
              <a:latin typeface="Calibri"/>
            </a:endParaRPr>
          </a:p>
        </p:txBody>
      </p:sp>
      <p:sp>
        <p:nvSpPr>
          <p:cNvPr id="22" name="Rounded Rectangle 21"/>
          <p:cNvSpPr/>
          <p:nvPr/>
        </p:nvSpPr>
        <p:spPr>
          <a:xfrm>
            <a:off x="7269480" y="3840480"/>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Home</a:t>
            </a:r>
          </a:p>
        </p:txBody>
      </p:sp>
      <p:sp>
        <p:nvSpPr>
          <p:cNvPr id="23" name="Rounded Rectangle 22"/>
          <p:cNvSpPr/>
          <p:nvPr/>
        </p:nvSpPr>
        <p:spPr>
          <a:xfrm>
            <a:off x="9354312" y="3840480"/>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Corpora Viewer</a:t>
            </a:r>
          </a:p>
        </p:txBody>
      </p:sp>
      <p:sp>
        <p:nvSpPr>
          <p:cNvPr id="24" name="Rounded Rectangle 23"/>
          <p:cNvSpPr/>
          <p:nvPr/>
        </p:nvSpPr>
        <p:spPr>
          <a:xfrm>
            <a:off x="7269480" y="4352544"/>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Text Preprocessing</a:t>
            </a:r>
          </a:p>
        </p:txBody>
      </p:sp>
      <p:sp>
        <p:nvSpPr>
          <p:cNvPr id="25" name="Rounded Rectangle 24"/>
          <p:cNvSpPr/>
          <p:nvPr/>
        </p:nvSpPr>
        <p:spPr>
          <a:xfrm>
            <a:off x="9354312" y="4352544"/>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Exploratory Analytics</a:t>
            </a:r>
          </a:p>
        </p:txBody>
      </p:sp>
      <p:sp>
        <p:nvSpPr>
          <p:cNvPr id="26" name="Rounded Rectangle 25"/>
          <p:cNvSpPr/>
          <p:nvPr/>
        </p:nvSpPr>
        <p:spPr>
          <a:xfrm>
            <a:off x="7269480" y="4864608"/>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Topic Explorer</a:t>
            </a:r>
          </a:p>
        </p:txBody>
      </p:sp>
      <p:sp>
        <p:nvSpPr>
          <p:cNvPr id="27" name="Rounded Rectangle 26"/>
          <p:cNvSpPr/>
          <p:nvPr/>
        </p:nvSpPr>
        <p:spPr>
          <a:xfrm>
            <a:off x="9354312" y="4864608"/>
            <a:ext cx="196596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1F4E8C"/>
                </a:solidFill>
                <a:latin typeface="Calibri"/>
              </a:rPr>
              <a:t>Model Evaluation</a:t>
            </a:r>
          </a:p>
        </p:txBody>
      </p:sp>
      <p:sp>
        <p:nvSpPr>
          <p:cNvPr id="28" name="Rounded Rectangle 27"/>
          <p:cNvSpPr/>
          <p:nvPr/>
        </p:nvSpPr>
        <p:spPr>
          <a:xfrm>
            <a:off x="7269480" y="5376672"/>
            <a:ext cx="1965960" cy="38404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23324A"/>
                </a:solidFill>
                <a:latin typeface="Calibri"/>
              </a:rPr>
              <a:t>Try It Yourself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84048"/>
            <a:ext cx="822960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05 · LIMITATIONS AND FUTURE WORK</a:t>
            </a:r>
          </a:p>
        </p:txBody>
      </p:sp>
      <p:sp>
        <p:nvSpPr>
          <p:cNvPr id="3" name="Title"/>
          <p:cNvSpPr txBox="1"/>
          <p:nvPr/>
        </p:nvSpPr>
        <p:spPr>
          <a:xfrm>
            <a:off x="548640" y="694944"/>
            <a:ext cx="9418320" cy="914400"/>
          </a:xfrm>
          <a:prstGeom prst="rect">
            <a:avLst/>
          </a:prstGeom>
          <a:noFill/>
        </p:spPr>
        <p:txBody>
          <a:bodyPr wrap="square" lIns="0" tIns="0" rIns="0" bIns="0" anchor="t">
            <a:spAutoFit/>
          </a:bodyPr>
          <a:lstStyle/>
          <a:p>
            <a:pPr algn="l">
              <a:spcAft>
                <a:spcPts val="0"/>
              </a:spcAft>
            </a:pPr>
            <a:r>
              <a:rPr sz="2800" b="1" i="0">
                <a:solidFill>
                  <a:srgbClr val="1F4E8C"/>
                </a:solidFill>
                <a:latin typeface="Cambria"/>
              </a:rPr>
              <a:t>What to keep in mind, what comes next, and thank you</a:t>
            </a:r>
          </a:p>
        </p:txBody>
      </p:sp>
      <p:pic>
        <p:nvPicPr>
          <p:cNvPr id="4" name="UGBS logo" descr="logo_crop.png"/>
          <p:cNvPicPr>
            <a:picLocks noChangeAspect="1"/>
          </p:cNvPicPr>
          <p:nvPr/>
        </p:nvPicPr>
        <p:blipFill>
          <a:blip r:embed="rId3"/>
          <a:stretch>
            <a:fillRect/>
          </a:stretch>
        </p:blipFill>
        <p:spPr>
          <a:xfrm>
            <a:off x="10085832" y="347472"/>
            <a:ext cx="1452017" cy="658368"/>
          </a:xfrm>
          <a:prstGeom prst="rect">
            <a:avLst/>
          </a:prstGeom>
        </p:spPr>
      </p:pic>
      <p:sp>
        <p:nvSpPr>
          <p:cNvPr id="5" name="Footer"/>
          <p:cNvSpPr txBox="1"/>
          <p:nvPr/>
        </p:nvSpPr>
        <p:spPr>
          <a:xfrm>
            <a:off x="548640" y="6446520"/>
            <a:ext cx="7315200" cy="228600"/>
          </a:xfrm>
          <a:prstGeom prst="rect">
            <a:avLst/>
          </a:prstGeom>
          <a:noFill/>
        </p:spPr>
        <p:txBody>
          <a:bodyPr wrap="square" lIns="0" tIns="0" rIns="0" bIns="0" anchor="t">
            <a:spAutoFit/>
          </a:bodyPr>
          <a:lstStyle/>
          <a:p>
            <a:pPr algn="l">
              <a:spcAft>
                <a:spcPts val="0"/>
              </a:spcAft>
            </a:pPr>
            <a:r>
              <a:rPr sz="1000" b="0" i="0">
                <a:solidFill>
                  <a:srgbClr val="5B6B82"/>
                </a:solidFill>
                <a:latin typeface="Calibri"/>
              </a:rPr>
              <a:t>Group 14  ·  News Topic Modelling  ·  MSc Business Analytics</a:t>
            </a:r>
          </a:p>
        </p:txBody>
      </p:sp>
      <p:sp>
        <p:nvSpPr>
          <p:cNvPr id="6" name="Slide number"/>
          <p:cNvSpPr txBox="1"/>
          <p:nvPr/>
        </p:nvSpPr>
        <p:spPr>
          <a:xfrm>
            <a:off x="10725912" y="6446520"/>
            <a:ext cx="914400" cy="228600"/>
          </a:xfrm>
          <a:prstGeom prst="rect">
            <a:avLst/>
          </a:prstGeom>
          <a:noFill/>
        </p:spPr>
        <p:txBody>
          <a:bodyPr wrap="square" lIns="0" tIns="0" rIns="0" bIns="0" anchor="t">
            <a:spAutoFit/>
          </a:bodyPr>
          <a:lstStyle/>
          <a:p>
            <a:pPr algn="r">
              <a:spcAft>
                <a:spcPts val="0"/>
              </a:spcAft>
            </a:pPr>
            <a:r>
              <a:rPr sz="1000" b="0" i="0">
                <a:solidFill>
                  <a:srgbClr val="5B6B82"/>
                </a:solidFill>
                <a:latin typeface="Calibri"/>
              </a:rPr>
              <a:t>10</a:t>
            </a:r>
          </a:p>
        </p:txBody>
      </p:sp>
      <p:sp>
        <p:nvSpPr>
          <p:cNvPr id="7" name="Rounded Rectangle 6"/>
          <p:cNvSpPr/>
          <p:nvPr/>
        </p:nvSpPr>
        <p:spPr>
          <a:xfrm>
            <a:off x="548640" y="1737360"/>
            <a:ext cx="5468112" cy="3429000"/>
          </a:xfrm>
          <a:prstGeom prst="roundRect">
            <a:avLst>
              <a:gd name="adj" fmla="val 3733"/>
            </a:avLst>
          </a:prstGeom>
          <a:solidFill>
            <a:srgbClr val="F2F7FC"/>
          </a:solidFill>
          <a:ln w="12700">
            <a:solidFill>
              <a:srgbClr val="DCE8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74519"/>
            <a:ext cx="493776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LIMITATIONS</a:t>
            </a:r>
          </a:p>
        </p:txBody>
      </p:sp>
      <p:sp>
        <p:nvSpPr>
          <p:cNvPr id="9" name="Oval 8"/>
          <p:cNvSpPr/>
          <p:nvPr/>
        </p:nvSpPr>
        <p:spPr>
          <a:xfrm>
            <a:off x="777240" y="2331720"/>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1</a:t>
            </a:r>
          </a:p>
        </p:txBody>
      </p:sp>
      <p:sp>
        <p:nvSpPr>
          <p:cNvPr id="10" name="TextBox 9"/>
          <p:cNvSpPr txBox="1"/>
          <p:nvPr/>
        </p:nvSpPr>
        <p:spPr>
          <a:xfrm>
            <a:off x="1325880" y="2286000"/>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Coherence is a UMass variant. Fair for LDA versus NMF here; the app also shows the textbook version.</a:t>
            </a:r>
          </a:p>
        </p:txBody>
      </p:sp>
      <p:sp>
        <p:nvSpPr>
          <p:cNvPr id="11" name="Oval 10"/>
          <p:cNvSpPr/>
          <p:nvPr/>
        </p:nvSpPr>
        <p:spPr>
          <a:xfrm>
            <a:off x="777240" y="3273552"/>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2</a:t>
            </a:r>
          </a:p>
        </p:txBody>
      </p:sp>
      <p:sp>
        <p:nvSpPr>
          <p:cNvPr id="12" name="TextBox 11"/>
          <p:cNvSpPr txBox="1"/>
          <p:nvPr/>
        </p:nvSpPr>
        <p:spPr>
          <a:xfrm>
            <a:off x="1325880" y="3227832"/>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LDA was fitted on TF-IDF as the brief requires. Raw counts usually suit LDA better.</a:t>
            </a:r>
          </a:p>
        </p:txBody>
      </p:sp>
      <p:sp>
        <p:nvSpPr>
          <p:cNvPr id="13" name="Oval 12"/>
          <p:cNvSpPr/>
          <p:nvPr/>
        </p:nvSpPr>
        <p:spPr>
          <a:xfrm>
            <a:off x="777240" y="4215384"/>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3</a:t>
            </a:r>
          </a:p>
        </p:txBody>
      </p:sp>
      <p:sp>
        <p:nvSpPr>
          <p:cNvPr id="14" name="TextBox 13"/>
          <p:cNvSpPr txBox="1"/>
          <p:nvPr/>
        </p:nvSpPr>
        <p:spPr>
          <a:xfrm>
            <a:off x="1325880" y="4169664"/>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15 topics for both models, not tuned. Overlapping real categories cap purity.</a:t>
            </a:r>
          </a:p>
        </p:txBody>
      </p:sp>
      <p:sp>
        <p:nvSpPr>
          <p:cNvPr id="15" name="Rounded Rectangle 14"/>
          <p:cNvSpPr/>
          <p:nvPr/>
        </p:nvSpPr>
        <p:spPr>
          <a:xfrm>
            <a:off x="6172200" y="1737360"/>
            <a:ext cx="5468112" cy="3429000"/>
          </a:xfrm>
          <a:prstGeom prst="roundRect">
            <a:avLst>
              <a:gd name="adj" fmla="val 3733"/>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874519"/>
            <a:ext cx="4937760" cy="274320"/>
          </a:xfrm>
          <a:prstGeom prst="rect">
            <a:avLst/>
          </a:prstGeom>
          <a:noFill/>
        </p:spPr>
        <p:txBody>
          <a:bodyPr wrap="square" lIns="0" tIns="0" rIns="0" bIns="0" anchor="t">
            <a:spAutoFit/>
          </a:bodyPr>
          <a:lstStyle/>
          <a:p>
            <a:pPr algn="l">
              <a:spcAft>
                <a:spcPts val="0"/>
              </a:spcAft>
            </a:pPr>
            <a:r>
              <a:rPr sz="1200" b="1" i="0">
                <a:solidFill>
                  <a:srgbClr val="8F6F00"/>
                </a:solidFill>
                <a:latin typeface="Calibri"/>
              </a:rPr>
              <a:t>NEXT STEPS</a:t>
            </a:r>
          </a:p>
        </p:txBody>
      </p:sp>
      <p:sp>
        <p:nvSpPr>
          <p:cNvPr id="17" name="Oval 16"/>
          <p:cNvSpPr/>
          <p:nvPr/>
        </p:nvSpPr>
        <p:spPr>
          <a:xfrm>
            <a:off x="6400800" y="2331720"/>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1</a:t>
            </a:r>
          </a:p>
        </p:txBody>
      </p:sp>
      <p:sp>
        <p:nvSpPr>
          <p:cNvPr id="18" name="TextBox 17"/>
          <p:cNvSpPr txBox="1"/>
          <p:nvPr/>
        </p:nvSpPr>
        <p:spPr>
          <a:xfrm>
            <a:off x="6949440" y="2286000"/>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Split the catch-all topic: more topics or another stopword pass.</a:t>
            </a:r>
          </a:p>
        </p:txBody>
      </p:sp>
      <p:sp>
        <p:nvSpPr>
          <p:cNvPr id="19" name="Oval 18"/>
          <p:cNvSpPr/>
          <p:nvPr/>
        </p:nvSpPr>
        <p:spPr>
          <a:xfrm>
            <a:off x="6400800" y="3273552"/>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2</a:t>
            </a:r>
          </a:p>
        </p:txBody>
      </p:sp>
      <p:sp>
        <p:nvSpPr>
          <p:cNvPr id="20" name="TextBox 19"/>
          <p:cNvSpPr txBox="1"/>
          <p:nvPr/>
        </p:nvSpPr>
        <p:spPr>
          <a:xfrm>
            <a:off x="6949440" y="3227832"/>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Remove repeated signature quotes, like the one behind NMF Topic 13.</a:t>
            </a:r>
          </a:p>
        </p:txBody>
      </p:sp>
      <p:sp>
        <p:nvSpPr>
          <p:cNvPr id="21" name="Oval 20"/>
          <p:cNvSpPr/>
          <p:nvPr/>
        </p:nvSpPr>
        <p:spPr>
          <a:xfrm>
            <a:off x="6400800" y="4215384"/>
            <a:ext cx="384048" cy="38404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23324A"/>
                </a:solidFill>
                <a:latin typeface="Calibri"/>
              </a:rPr>
              <a:t>3</a:t>
            </a:r>
          </a:p>
        </p:txBody>
      </p:sp>
      <p:sp>
        <p:nvSpPr>
          <p:cNvPr id="22" name="TextBox 21"/>
          <p:cNvSpPr txBox="1"/>
          <p:nvPr/>
        </p:nvSpPr>
        <p:spPr>
          <a:xfrm>
            <a:off x="6949440" y="4169664"/>
            <a:ext cx="4480560" cy="868680"/>
          </a:xfrm>
          <a:prstGeom prst="rect">
            <a:avLst/>
          </a:prstGeom>
          <a:noFill/>
        </p:spPr>
        <p:txBody>
          <a:bodyPr wrap="square" lIns="0" tIns="0" rIns="0" bIns="0" anchor="t">
            <a:spAutoFit/>
          </a:bodyPr>
          <a:lstStyle/>
          <a:p>
            <a:pPr algn="l">
              <a:spcAft>
                <a:spcPts val="0"/>
              </a:spcAft>
            </a:pPr>
            <a:r>
              <a:rPr sz="1400" b="0" i="0">
                <a:solidFill>
                  <a:srgbClr val="23324A"/>
                </a:solidFill>
                <a:latin typeface="Calibri"/>
              </a:rPr>
              <a:t>Re-check coherence with gensim and test LDA on raw word counts.</a:t>
            </a:r>
          </a:p>
        </p:txBody>
      </p:sp>
      <p:sp>
        <p:nvSpPr>
          <p:cNvPr id="23" name="Rounded Rectangle 22"/>
          <p:cNvSpPr/>
          <p:nvPr/>
        </p:nvSpPr>
        <p:spPr>
          <a:xfrm>
            <a:off x="548640" y="5349240"/>
            <a:ext cx="11094415" cy="960120"/>
          </a:xfrm>
          <a:prstGeom prst="roundRect">
            <a:avLst>
              <a:gd name="adj" fmla="val 15238"/>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349240"/>
            <a:ext cx="4572000" cy="960120"/>
          </a:xfrm>
          <a:prstGeom prst="rect">
            <a:avLst/>
          </a:prstGeom>
          <a:noFill/>
        </p:spPr>
        <p:txBody>
          <a:bodyPr wrap="square" lIns="0" tIns="0" rIns="0" bIns="0" anchor="ctr">
            <a:spAutoFit/>
          </a:bodyPr>
          <a:lstStyle/>
          <a:p>
            <a:pPr algn="l">
              <a:spcAft>
                <a:spcPts val="0"/>
              </a:spcAft>
            </a:pPr>
            <a:r>
              <a:rPr sz="2800" b="1" i="0">
                <a:solidFill>
                  <a:srgbClr val="FFFFFF"/>
                </a:solidFill>
                <a:latin typeface="Cambria"/>
              </a:rPr>
              <a:t>Thank you. Questions?</a:t>
            </a:r>
          </a:p>
        </p:txBody>
      </p:sp>
      <p:sp>
        <p:nvSpPr>
          <p:cNvPr id="25" name="TextBox 24"/>
          <p:cNvSpPr txBox="1"/>
          <p:nvPr/>
        </p:nvSpPr>
        <p:spPr>
          <a:xfrm>
            <a:off x="5669280" y="5394960"/>
            <a:ext cx="5760720" cy="868680"/>
          </a:xfrm>
          <a:prstGeom prst="rect">
            <a:avLst/>
          </a:prstGeom>
          <a:noFill/>
        </p:spPr>
        <p:txBody>
          <a:bodyPr wrap="square" lIns="0" tIns="0" rIns="0" bIns="0" anchor="ctr">
            <a:spAutoFit/>
          </a:bodyPr>
          <a:lstStyle/>
          <a:p>
            <a:pPr algn="l">
              <a:spcAft>
                <a:spcPts val="0"/>
              </a:spcAft>
            </a:pPr>
            <a:r>
              <a:rPr sz="1200" b="1" i="0">
                <a:solidFill>
                  <a:srgbClr val="F6EBC0"/>
                </a:solidFill>
                <a:latin typeface="Calibri"/>
              </a:rPr>
              <a:t>Key references: </a:t>
            </a:r>
            <a:r>
              <a:rPr sz="1200" b="0" i="0">
                <a:solidFill>
                  <a:srgbClr val="FFFFFF"/>
                </a:solidFill>
                <a:latin typeface="Calibri"/>
              </a:rPr>
              <a:t>Blei, Ng and Jordan (2003) · Lee and Seung (2001) · Mimno et al. (2011) · Pedregosa et al. (2011) · Lang (1995)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2584</Words>
  <Application>Microsoft Office PowerPoint</Application>
  <PresentationFormat>Widescreen</PresentationFormat>
  <Paragraphs>214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 Topic Modelling: Group 14</dc:title>
  <dc:subject/>
  <dc:creator>Group 14, MSc Business Analytics</dc:creator>
  <cp:keywords/>
  <dc:description>generated using python-pptx</dc:description>
  <cp:lastModifiedBy>STOBOAT</cp:lastModifiedBy>
  <cp:revision>2</cp:revision>
  <dcterms:created xsi:type="dcterms:W3CDTF">2013-01-27T09:14:16Z</dcterms:created>
  <dcterms:modified xsi:type="dcterms:W3CDTF">2026-10-03T00:06:01Z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f081cd2-4233-4a39-8d59-3f4486bb8c41_Enabled">
    <vt:lpwstr>true</vt:lpwstr>
  </property>
  <property fmtid="{D5CDD505-2E9C-101B-9397-08002B2CF9AE}" pid="3" name="MSIP_Label_1f081cd2-4233-4a39-8d59-3f4486bb8c41_SetDate">
    <vt:lpwstr>2026-10-03T00:06:01Z</vt:lpwstr>
  </property>
  <property fmtid="{D5CDD505-2E9C-101B-9397-08002B2CF9AE}" pid="4" name="MSIP_Label_1f081cd2-4233-4a39-8d59-3f4486bb8c41_Method">
    <vt:lpwstr>Standard</vt:lpwstr>
  </property>
  <property fmtid="{D5CDD505-2E9C-101B-9397-08002B2CF9AE}" pid="5" name="MSIP_Label_1f081cd2-4233-4a39-8d59-3f4486bb8c41_Name">
    <vt:lpwstr>Public</vt:lpwstr>
  </property>
  <property fmtid="{D5CDD505-2E9C-101B-9397-08002B2CF9AE}" pid="6" name="MSIP_Label_1f081cd2-4233-4a39-8d59-3f4486bb8c41_SiteId">
    <vt:lpwstr>4389ce00-5234-4972-a462-e3d0b87e6545</vt:lpwstr>
  </property>
  <property fmtid="{D5CDD505-2E9C-101B-9397-08002B2CF9AE}" pid="7" name="MSIP_Label_1f081cd2-4233-4a39-8d59-3f4486bb8c41_ActionId">
    <vt:lpwstr>7ba88cf6-15fb-46c7-ba82-b70ef7a98321</vt:lpwstr>
  </property>
  <property fmtid="{D5CDD505-2E9C-101B-9397-08002B2CF9AE}" pid="8" name="MSIP_Label_1f081cd2-4233-4a39-8d59-3f4486bb8c41_ContentBits">
    <vt:lpwstr>1</vt:lpwstr>
  </property>
  <property fmtid="{D5CDD505-2E9C-101B-9397-08002B2CF9AE}" pid="9" name="MSIP_Label_1f081cd2-4233-4a39-8d59-3f4486bb8c41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Ghana Water - Public</vt:lpwstr>
  </property>
</Properties>
</file>